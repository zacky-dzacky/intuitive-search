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One-line framing — "a search bar that understands trf, download e-statement, and transfer to mom's 10000 usd — and knows the difference between the first two and the third."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framing lands the safety point up front — nothing here can move money. That is the single most important thing for compliance-minded stakeholders.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demo. The nuance is in the last column — LLM only where it has to. Everything else is deterministic, fast, and cheap.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as: solid arrows are actors using the system (or the system using an external system). «include» is always-on behaviour; «extend» is optional behaviour that only fires when the guard in brackets holds — that guard is the LLM gate. The crossed-out use case is deliberate: it is the one thing the service cannot be asked to do.</a:t>
            </a:r>
          </a:p>
          <a:p/>
          <a:p>
            <a:r>
              <a:t>The four-value action enum (navigate · prefill_form · suggest · none) is the compliance boundary, in code. Grep-provable. Degrading is a first-class outcome, not an error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four-value action enum (navigate · prefill_form · suggest · none) is the compliance boundary, in code. Grep-provable. Degrading is a first-class outcome, not an error path — everything works or falls back to something that works.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answer to "won't this get expensive at scale?" — no, because 80–90% of queries never leave Postgres, and the safety is in the code, not in an operational rule someone might forget.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for the BA. "When product adds a new capability, how does it get into search?" — a row, not a ticket. The admin dashboard (later slide) is the UI for this.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guess; we measured; the fixes name failure modes, not vibes. Appendix C has the two ranking bugs we only found by running the pipeline — same lesson. Appendix D covers why the embedding service isn't just another Ollama.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VP, this is the "we haven't painted ourselves into a corner" slide. Vendor decisions are reversible; the architecture is not tied to a specific model or hosting story.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BA and product team live day to day. "Which of our queries don't resolve?" is a business question with a UI answer, weekly.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a single, answerable question. Do not leave the room without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77440"/>
            <a:ext cx="109728" cy="192024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194560"/>
            <a:ext cx="10058400" cy="1097280"/>
          </a:xfrm>
          <a:prstGeom prst="rect">
            <a:avLst/>
          </a:prstGeom>
          <a:noFill/>
        </p:spPr>
        <p:txBody>
          <a:bodyPr wrap="square" anchor="t" lIns="45720" rIns="45720">
            <a:spAutoFit/>
          </a:bodyPr>
          <a:lstStyle/>
          <a:p>
            <a:pPr>
              <a:spcAft>
                <a:spcPts val="600"/>
              </a:spcAft>
            </a:pPr>
            <a:r>
              <a:rPr sz="5400">
                <a:solidFill>
                  <a:srgbClr val="FFFFFF"/>
                </a:solidFill>
                <a:latin typeface="Calibri"/>
              </a:rPr>
              <a:t>Intuitive Search</a:t>
            </a:r>
          </a:p>
        </p:txBody>
      </p:sp>
      <p:sp>
        <p:nvSpPr>
          <p:cNvPr id="5" name="TextBox 4"/>
          <p:cNvSpPr txBox="1"/>
          <p:nvPr/>
        </p:nvSpPr>
        <p:spPr>
          <a:xfrm>
            <a:off x="1097280" y="3246120"/>
            <a:ext cx="10058400" cy="731520"/>
          </a:xfrm>
          <a:prstGeom prst="rect">
            <a:avLst/>
          </a:prstGeom>
          <a:noFill/>
        </p:spPr>
        <p:txBody>
          <a:bodyPr wrap="square" anchor="t" lIns="45720" rIns="45720">
            <a:spAutoFit/>
          </a:bodyPr>
          <a:lstStyle/>
          <a:p>
            <a:pPr>
              <a:spcAft>
                <a:spcPts val="600"/>
              </a:spcAft>
            </a:pPr>
            <a:r>
              <a:rPr sz="2400">
                <a:solidFill>
                  <a:srgbClr val="C7D2FE"/>
                </a:solidFill>
                <a:latin typeface="Calibri"/>
              </a:rPr>
              <a:t>Finding features the way customers actually ask for them.</a:t>
            </a:r>
          </a:p>
        </p:txBody>
      </p:sp>
      <p:sp>
        <p:nvSpPr>
          <p:cNvPr id="6" name="TextBox 5"/>
          <p:cNvSpPr txBox="1"/>
          <p:nvPr/>
        </p:nvSpPr>
        <p:spPr>
          <a:xfrm>
            <a:off x="1097280" y="3977639"/>
            <a:ext cx="10058400" cy="548640"/>
          </a:xfrm>
          <a:prstGeom prst="rect">
            <a:avLst/>
          </a:prstGeom>
          <a:noFill/>
        </p:spPr>
        <p:txBody>
          <a:bodyPr wrap="square" anchor="t" lIns="45720" rIns="45720">
            <a:spAutoFit/>
          </a:bodyPr>
          <a:lstStyle/>
          <a:p>
            <a:pPr>
              <a:spcAft>
                <a:spcPts val="600"/>
              </a:spcAft>
            </a:pPr>
            <a:r>
              <a:rPr sz="1600">
                <a:solidFill>
                  <a:srgbClr val="9CA3AF"/>
                </a:solidFill>
                <a:latin typeface="Calibri"/>
              </a:rPr>
              <a:t>Smart in-app feature search for the banking app</a:t>
            </a:r>
          </a:p>
        </p:txBody>
      </p:sp>
      <p:sp>
        <p:nvSpPr>
          <p:cNvPr id="7" name="TextBox 6"/>
          <p:cNvSpPr txBox="1"/>
          <p:nvPr/>
        </p:nvSpPr>
        <p:spPr>
          <a:xfrm>
            <a:off x="1097280" y="5760720"/>
            <a:ext cx="10058400" cy="548640"/>
          </a:xfrm>
          <a:prstGeom prst="rect">
            <a:avLst/>
          </a:prstGeom>
          <a:noFill/>
        </p:spPr>
        <p:txBody>
          <a:bodyPr wrap="square" anchor="t" lIns="45720" rIns="45720">
            <a:spAutoFit/>
          </a:bodyPr>
          <a:lstStyle/>
          <a:p>
            <a:pPr>
              <a:spcAft>
                <a:spcPts val="600"/>
              </a:spcAft>
            </a:pPr>
            <a:r>
              <a:rPr sz="1300">
                <a:solidFill>
                  <a:srgbClr val="9CA3AF"/>
                </a:solidFill>
                <a:latin typeface="Calibri"/>
              </a:rPr>
              <a:t>Tech Lead · Business Analyst · VP of Engineering     |     Draft v2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The problem we're solving</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64240" cy="3291840"/>
          </a:xfrm>
          <a:prstGeom prst="rect">
            <a:avLst/>
          </a:prstGeom>
          <a:noFill/>
        </p:spPr>
        <p:txBody>
          <a:bodyPr wrap="square" anchor="t" lIns="45720" rIns="45720">
            <a:spAutoFit/>
          </a:bodyPr>
          <a:lstStyle/>
          <a:p>
            <a:pPr>
              <a:spcAft>
                <a:spcPts val="800"/>
              </a:spcAft>
            </a:pPr>
            <a:r>
              <a:rPr sz="2000">
                <a:solidFill>
                  <a:srgbClr val="222222"/>
                </a:solidFill>
                <a:latin typeface="Calibri"/>
              </a:rPr>
              <a:t>Two things break in a 60+ feature banking app:</a:t>
            </a:r>
          </a:p>
          <a:p>
            <a:pPr>
              <a:spcAft>
                <a:spcPts val="800"/>
              </a:spcAft>
            </a:pPr>
          </a:p>
          <a:p>
            <a:pPr>
              <a:spcAft>
                <a:spcPts val="800"/>
              </a:spcAft>
            </a:pPr>
            <a:r>
              <a:rPr b="1" sz="2000">
                <a:solidFill>
                  <a:srgbClr val="222222"/>
                </a:solidFill>
                <a:latin typeface="Calibri"/>
              </a:rPr>
              <a:t>Discovery.</a:t>
            </a:r>
            <a:r>
              <a:rPr sz="2000">
                <a:solidFill>
                  <a:srgbClr val="222222"/>
                </a:solidFill>
                <a:latin typeface="Calibri"/>
              </a:rPr>
              <a:t> Users know what they want, not where it lives in our IA. Menus punish long tails: "e-stmt", "block card", "where did my money go".</a:t>
            </a:r>
          </a:p>
          <a:p>
            <a:pPr>
              <a:spcAft>
                <a:spcPts val="800"/>
              </a:spcAft>
            </a:pPr>
          </a:p>
          <a:p>
            <a:pPr>
              <a:spcAft>
                <a:spcPts val="800"/>
              </a:spcAft>
            </a:pPr>
            <a:r>
              <a:rPr b="1" sz="2000">
                <a:solidFill>
                  <a:srgbClr val="222222"/>
                </a:solidFill>
                <a:latin typeface="Calibri"/>
              </a:rPr>
              <a:t>Friction.</a:t>
            </a:r>
            <a:r>
              <a:rPr sz="2000">
                <a:solidFill>
                  <a:srgbClr val="222222"/>
                </a:solidFill>
                <a:latin typeface="Calibri"/>
              </a:rPr>
              <a:t> Even when they find the screen, they still have to fill it in. A power-user request like "transfer to mom's 10000 usd" travels through 4 taps and 3 fields before it's a form they can confirm.</a:t>
            </a:r>
          </a:p>
        </p:txBody>
      </p:sp>
      <p:sp>
        <p:nvSpPr>
          <p:cNvPr id="6" name="Rounded Rectangle 5"/>
          <p:cNvSpPr/>
          <p:nvPr/>
        </p:nvSpPr>
        <p:spPr>
          <a:xfrm>
            <a:off x="548640" y="4846320"/>
            <a:ext cx="11064240" cy="1188720"/>
          </a:xfrm>
          <a:prstGeom prst="roundRect">
            <a:avLst>
              <a:gd name="adj" fmla="val 8000"/>
            </a:avLst>
          </a:prstGeom>
          <a:solidFill>
            <a:srgbClr val="EEF3FF"/>
          </a:solidFill>
          <a:ln>
            <a:solidFill>
              <a:srgbClr val="3B5BDB"/>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spcAft>
                <a:spcPts val="600"/>
              </a:spcAft>
            </a:pPr>
            <a:r>
              <a:rPr sz="2000">
                <a:solidFill>
                  <a:srgbClr val="1F2A44"/>
                </a:solidFill>
                <a:latin typeface="Calibri"/>
              </a:rPr>
              <a:t>We treat search as the shortest path from </a:t>
            </a:r>
            <a:r>
              <a:rPr b="1" sz="2000">
                <a:solidFill>
                  <a:srgbClr val="1F2A44"/>
                </a:solidFill>
                <a:latin typeface="Calibri"/>
              </a:rPr>
              <a:t>intent → confirmable form</a:t>
            </a:r>
            <a:r>
              <a:rPr sz="2000">
                <a:solidFill>
                  <a:srgbClr val="1F2A44"/>
                </a:solidFill>
                <a:latin typeface="Calibri"/>
              </a:rPr>
              <a:t>, without ever executing on the customer's behalf.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What it does, in one screen</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371600"/>
          <a:ext cx="11064240" cy="3657600"/>
        </p:xfrm>
        <a:graphic>
          <a:graphicData uri="http://schemas.openxmlformats.org/drawingml/2006/table">
            <a:tbl>
              <a:tblPr firstRow="1" bandRow="1">
                <a:tableStyleId>{5C22544A-7EE6-4342-B048-85BDC9FD1C3A}</a:tableStyleId>
              </a:tblPr>
              <a:tblGrid>
                <a:gridCol w="3291840"/>
                <a:gridCol w="5212080"/>
                <a:gridCol w="1280160"/>
                <a:gridCol w="1280160"/>
              </a:tblGrid>
              <a:tr h="457200">
                <a:tc>
                  <a:txBody>
                    <a:bodyPr wrap="square"/>
                    <a:lstStyle/>
                    <a:p>
                      <a:pPr>
                        <a:spcAft>
                          <a:spcPts val="0"/>
                        </a:spcAft>
                      </a:pPr>
                      <a:r>
                        <a:rPr sz="1500" b="1">
                          <a:solidFill>
                            <a:srgbClr val="FFFFFF"/>
                          </a:solidFill>
                          <a:latin typeface="Calibri"/>
                        </a:rPr>
                        <a:t>Query</a:t>
                      </a:r>
                    </a:p>
                  </a:txBody>
                  <a:tcPr marL="73152" marR="73152" marT="36576" marB="36576">
                    <a:solidFill>
                      <a:srgbClr val="1F2A44"/>
                    </a:solidFill>
                  </a:tcPr>
                </a:tc>
                <a:tc>
                  <a:txBody>
                    <a:bodyPr wrap="square"/>
                    <a:lstStyle/>
                    <a:p>
                      <a:pPr>
                        <a:spcAft>
                          <a:spcPts val="0"/>
                        </a:spcAft>
                      </a:pPr>
                      <a:r>
                        <a:rPr sz="1500" b="1">
                          <a:solidFill>
                            <a:srgbClr val="FFFFFF"/>
                          </a:solidFill>
                          <a:latin typeface="Calibri"/>
                        </a:rPr>
                        <a:t>What happens</a:t>
                      </a:r>
                    </a:p>
                  </a:txBody>
                  <a:tcPr marL="73152" marR="73152" marT="36576" marB="36576">
                    <a:solidFill>
                      <a:srgbClr val="1F2A44"/>
                    </a:solidFill>
                  </a:tcPr>
                </a:tc>
                <a:tc>
                  <a:txBody>
                    <a:bodyPr wrap="square"/>
                    <a:lstStyle/>
                    <a:p>
                      <a:pPr>
                        <a:spcAft>
                          <a:spcPts val="0"/>
                        </a:spcAft>
                      </a:pPr>
                      <a:r>
                        <a:rPr sz="1500" b="1">
                          <a:solidFill>
                            <a:srgbClr val="FFFFFF"/>
                          </a:solidFill>
                          <a:latin typeface="Calibri"/>
                        </a:rPr>
                        <a:t>LLM fired?</a:t>
                      </a:r>
                    </a:p>
                  </a:txBody>
                  <a:tcPr marL="73152" marR="73152" marT="36576" marB="36576">
                    <a:solidFill>
                      <a:srgbClr val="1F2A44"/>
                    </a:solidFill>
                  </a:tcPr>
                </a:tc>
                <a:tc>
                  <a:txBody>
                    <a:bodyPr wrap="square"/>
                    <a:lstStyle/>
                    <a:p>
                      <a:pPr>
                        <a:spcAft>
                          <a:spcPts val="0"/>
                        </a:spcAft>
                      </a:pPr>
                      <a:r>
                        <a:rPr sz="1500" b="1">
                          <a:solidFill>
                            <a:srgbClr val="FFFFFF"/>
                          </a:solidFill>
                          <a:latin typeface="Calibri"/>
                        </a:rPr>
                        <a:t>Latency</a:t>
                      </a:r>
                    </a:p>
                  </a:txBody>
                  <a:tcPr marL="73152" marR="73152" marT="36576" marB="36576">
                    <a:solidFill>
                      <a:srgbClr val="1F2A44"/>
                    </a:solidFill>
                  </a:tcPr>
                </a:tc>
              </a:tr>
              <a:tr h="457200">
                <a:tc>
                  <a:txBody>
                    <a:bodyPr wrap="square"/>
                    <a:lstStyle/>
                    <a:p>
                      <a:pPr>
                        <a:spcAft>
                          <a:spcPts val="0"/>
                        </a:spcAft>
                      </a:pPr>
                      <a:r>
                        <a:rPr sz="1400">
                          <a:solidFill>
                            <a:srgbClr val="222222"/>
                          </a:solidFill>
                          <a:latin typeface="Consolas"/>
                        </a:rPr>
                        <a:t>trf</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Opens Transfer</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no</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13 ms</a:t>
                      </a:r>
                    </a:p>
                  </a:txBody>
                  <a:tcPr marL="73152" marR="73152" marT="36576" marB="36576">
                    <a:solidFill>
                      <a:srgbClr val="FFFFFF"/>
                    </a:solidFill>
                  </a:tcPr>
                </a:tc>
              </a:tr>
              <a:tr h="457200">
                <a:tc>
                  <a:txBody>
                    <a:bodyPr wrap="square"/>
                    <a:lstStyle/>
                    <a:p>
                      <a:pPr>
                        <a:spcAft>
                          <a:spcPts val="0"/>
                        </a:spcAft>
                      </a:pPr>
                      <a:r>
                        <a:rPr sz="1400">
                          <a:solidFill>
                            <a:srgbClr val="222222"/>
                          </a:solidFill>
                          <a:latin typeface="Consolas"/>
                        </a:rPr>
                        <a:t>e-stmt</a:t>
                      </a:r>
                    </a:p>
                  </a:txBody>
                  <a:tcPr marL="73152" marR="73152" marT="36576" marB="36576">
                    <a:solidFill>
                      <a:srgbClr val="F3F4F6"/>
                    </a:solidFill>
                  </a:tcPr>
                </a:tc>
                <a:tc>
                  <a:txBody>
                    <a:bodyPr wrap="square"/>
                    <a:lstStyle/>
                    <a:p>
                      <a:pPr>
                        <a:spcAft>
                          <a:spcPts val="0"/>
                        </a:spcAft>
                      </a:pPr>
                      <a:r>
                        <a:rPr sz="1500">
                          <a:solidFill>
                            <a:srgbClr val="222222"/>
                          </a:solidFill>
                          <a:latin typeface="Calibri"/>
                        </a:rPr>
                        <a:t>Opens Download e-Statement</a:t>
                      </a:r>
                    </a:p>
                  </a:txBody>
                  <a:tcPr marL="73152" marR="73152" marT="36576" marB="36576">
                    <a:solidFill>
                      <a:srgbClr val="F3F4F6"/>
                    </a:solidFill>
                  </a:tcPr>
                </a:tc>
                <a:tc>
                  <a:txBody>
                    <a:bodyPr wrap="square"/>
                    <a:lstStyle/>
                    <a:p>
                      <a:pPr>
                        <a:spcAft>
                          <a:spcPts val="0"/>
                        </a:spcAft>
                      </a:pPr>
                      <a:r>
                        <a:rPr sz="1500">
                          <a:solidFill>
                            <a:srgbClr val="222222"/>
                          </a:solidFill>
                          <a:latin typeface="Calibri"/>
                        </a:rPr>
                        <a:t>no</a:t>
                      </a:r>
                    </a:p>
                  </a:txBody>
                  <a:tcPr marL="73152" marR="73152" marT="36576" marB="36576">
                    <a:solidFill>
                      <a:srgbClr val="F3F4F6"/>
                    </a:solidFill>
                  </a:tcPr>
                </a:tc>
                <a:tc>
                  <a:txBody>
                    <a:bodyPr wrap="square"/>
                    <a:lstStyle/>
                    <a:p>
                      <a:pPr>
                        <a:spcAft>
                          <a:spcPts val="0"/>
                        </a:spcAft>
                      </a:pPr>
                      <a:r>
                        <a:rPr sz="1500">
                          <a:solidFill>
                            <a:srgbClr val="222222"/>
                          </a:solidFill>
                          <a:latin typeface="Calibri"/>
                        </a:rPr>
                        <a:t>10 ms</a:t>
                      </a:r>
                    </a:p>
                  </a:txBody>
                  <a:tcPr marL="73152" marR="73152" marT="36576" marB="36576">
                    <a:solidFill>
                      <a:srgbClr val="F3F4F6"/>
                    </a:solidFill>
                  </a:tcPr>
                </a:tc>
              </a:tr>
              <a:tr h="457200">
                <a:tc>
                  <a:txBody>
                    <a:bodyPr wrap="square"/>
                    <a:lstStyle/>
                    <a:p>
                      <a:pPr>
                        <a:spcAft>
                          <a:spcPts val="0"/>
                        </a:spcAft>
                      </a:pPr>
                      <a:r>
                        <a:rPr sz="1400">
                          <a:solidFill>
                            <a:srgbClr val="222222"/>
                          </a:solidFill>
                          <a:latin typeface="Consolas"/>
                        </a:rPr>
                        <a:t>where did my money go</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Opens Spending Insights</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no</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15 ms</a:t>
                      </a:r>
                    </a:p>
                  </a:txBody>
                  <a:tcPr marL="73152" marR="73152" marT="36576" marB="36576">
                    <a:solidFill>
                      <a:srgbClr val="FFFFFF"/>
                    </a:solidFill>
                  </a:tcPr>
                </a:tc>
              </a:tr>
              <a:tr h="457200">
                <a:tc>
                  <a:txBody>
                    <a:bodyPr wrap="square"/>
                    <a:lstStyle/>
                    <a:p>
                      <a:pPr>
                        <a:spcAft>
                          <a:spcPts val="0"/>
                        </a:spcAft>
                      </a:pPr>
                      <a:r>
                        <a:rPr sz="1400">
                          <a:solidFill>
                            <a:srgbClr val="222222"/>
                          </a:solidFill>
                          <a:latin typeface="Consolas"/>
                        </a:rPr>
                        <a:t>block my card</a:t>
                      </a:r>
                    </a:p>
                  </a:txBody>
                  <a:tcPr marL="73152" marR="73152" marT="36576" marB="36576">
                    <a:solidFill>
                      <a:srgbClr val="F3F4F6"/>
                    </a:solidFill>
                  </a:tcPr>
                </a:tc>
                <a:tc>
                  <a:txBody>
                    <a:bodyPr wrap="square"/>
                    <a:lstStyle/>
                    <a:p>
                      <a:pPr>
                        <a:spcAft>
                          <a:spcPts val="0"/>
                        </a:spcAft>
                      </a:pPr>
                      <a:r>
                        <a:rPr sz="1500">
                          <a:solidFill>
                            <a:srgbClr val="222222"/>
                          </a:solidFill>
                          <a:latin typeface="Calibri"/>
                        </a:rPr>
                        <a:t>Opens Block Card</a:t>
                      </a:r>
                    </a:p>
                  </a:txBody>
                  <a:tcPr marL="73152" marR="73152" marT="36576" marB="36576">
                    <a:solidFill>
                      <a:srgbClr val="F3F4F6"/>
                    </a:solidFill>
                  </a:tcPr>
                </a:tc>
                <a:tc>
                  <a:txBody>
                    <a:bodyPr wrap="square"/>
                    <a:lstStyle/>
                    <a:p>
                      <a:pPr>
                        <a:spcAft>
                          <a:spcPts val="0"/>
                        </a:spcAft>
                      </a:pPr>
                      <a:r>
                        <a:rPr sz="1500">
                          <a:solidFill>
                            <a:srgbClr val="222222"/>
                          </a:solidFill>
                          <a:latin typeface="Calibri"/>
                        </a:rPr>
                        <a:t>no</a:t>
                      </a:r>
                    </a:p>
                  </a:txBody>
                  <a:tcPr marL="73152" marR="73152" marT="36576" marB="36576">
                    <a:solidFill>
                      <a:srgbClr val="F3F4F6"/>
                    </a:solidFill>
                  </a:tcPr>
                </a:tc>
                <a:tc>
                  <a:txBody>
                    <a:bodyPr wrap="square"/>
                    <a:lstStyle/>
                    <a:p>
                      <a:pPr>
                        <a:spcAft>
                          <a:spcPts val="0"/>
                        </a:spcAft>
                      </a:pPr>
                      <a:r>
                        <a:rPr sz="1500">
                          <a:solidFill>
                            <a:srgbClr val="222222"/>
                          </a:solidFill>
                          <a:latin typeface="Calibri"/>
                        </a:rPr>
                        <a:t>10 ms</a:t>
                      </a:r>
                    </a:p>
                  </a:txBody>
                  <a:tcPr marL="73152" marR="73152" marT="36576" marB="36576">
                    <a:solidFill>
                      <a:srgbClr val="F3F4F6"/>
                    </a:solidFill>
                  </a:tcPr>
                </a:tc>
              </a:tr>
              <a:tr h="457200">
                <a:tc>
                  <a:txBody>
                    <a:bodyPr wrap="square"/>
                    <a:lstStyle/>
                    <a:p>
                      <a:pPr>
                        <a:spcAft>
                          <a:spcPts val="0"/>
                        </a:spcAft>
                      </a:pPr>
                      <a:r>
                        <a:rPr sz="1400">
                          <a:solidFill>
                            <a:srgbClr val="222222"/>
                          </a:solidFill>
                          <a:latin typeface="Consolas"/>
                        </a:rPr>
                        <a:t>transfer to mom's 10000 usd</a:t>
                      </a:r>
                    </a:p>
                  </a:txBody>
                  <a:tcPr marL="73152" marR="73152" marT="36576" marB="36576">
                    <a:solidFill>
                      <a:srgbClr val="FFFFFF"/>
                    </a:solidFill>
                  </a:tcPr>
                </a:tc>
                <a:tc>
                  <a:txBody>
                    <a:bodyPr wrap="square"/>
                    <a:lstStyle/>
                    <a:p>
                      <a:pPr>
                        <a:spcAft>
                          <a:spcPts val="0"/>
                        </a:spcAft>
                      </a:pPr>
                      <a:r>
                        <a:rPr b="1" sz="1500">
                          <a:solidFill>
                            <a:srgbClr val="222222"/>
                          </a:solidFill>
                          <a:latin typeface="Calibri"/>
                        </a:rPr>
                        <a:t>Pre-fills Transfer form</a:t>
                      </a:r>
                      <a:r>
                        <a:rPr sz="1500">
                          <a:solidFill>
                            <a:srgbClr val="222222"/>
                          </a:solidFill>
                          <a:latin typeface="Calibri"/>
                        </a:rPr>
                        <a:t> (recipient=Mom, amount=10000, USD)</a:t>
                      </a:r>
                    </a:p>
                  </a:txBody>
                  <a:tcPr marL="73152" marR="73152" marT="36576" marB="36576">
                    <a:solidFill>
                      <a:srgbClr val="FFFFFF"/>
                    </a:solidFill>
                  </a:tcPr>
                </a:tc>
                <a:tc>
                  <a:txBody>
                    <a:bodyPr wrap="square"/>
                    <a:lstStyle/>
                    <a:p>
                      <a:pPr>
                        <a:spcAft>
                          <a:spcPts val="0"/>
                        </a:spcAft>
                      </a:pPr>
                      <a:r>
                        <a:rPr b="1" sz="1500">
                          <a:solidFill>
                            <a:srgbClr val="222222"/>
                          </a:solidFill>
                          <a:latin typeface="Calibri"/>
                        </a:rPr>
                        <a:t>yes</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18 ms</a:t>
                      </a:r>
                    </a:p>
                  </a:txBody>
                  <a:tcPr marL="73152" marR="73152" marT="36576" marB="36576">
                    <a:solidFill>
                      <a:srgbClr val="FFFFFF"/>
                    </a:solidFill>
                  </a:tcPr>
                </a:tc>
              </a:tr>
              <a:tr h="457200">
                <a:tc>
                  <a:txBody>
                    <a:bodyPr wrap="square"/>
                    <a:lstStyle/>
                    <a:p>
                      <a:pPr>
                        <a:spcAft>
                          <a:spcPts val="0"/>
                        </a:spcAft>
                      </a:pPr>
                      <a:r>
                        <a:rPr sz="1400">
                          <a:solidFill>
                            <a:srgbClr val="222222"/>
                          </a:solidFill>
                          <a:latin typeface="Consolas"/>
                        </a:rPr>
                        <a:t>send 250 usd to landlord</a:t>
                      </a:r>
                    </a:p>
                  </a:txBody>
                  <a:tcPr marL="73152" marR="73152" marT="36576" marB="36576">
                    <a:solidFill>
                      <a:srgbClr val="F3F4F6"/>
                    </a:solidFill>
                  </a:tcPr>
                </a:tc>
                <a:tc>
                  <a:txBody>
                    <a:bodyPr wrap="square"/>
                    <a:lstStyle/>
                    <a:p>
                      <a:pPr>
                        <a:spcAft>
                          <a:spcPts val="0"/>
                        </a:spcAft>
                      </a:pPr>
                      <a:r>
                        <a:rPr b="1" sz="1500">
                          <a:solidFill>
                            <a:srgbClr val="222222"/>
                          </a:solidFill>
                          <a:latin typeface="Calibri"/>
                        </a:rPr>
                        <a:t>Pre-fills Transfer form</a:t>
                      </a:r>
                    </a:p>
                  </a:txBody>
                  <a:tcPr marL="73152" marR="73152" marT="36576" marB="36576">
                    <a:solidFill>
                      <a:srgbClr val="F3F4F6"/>
                    </a:solidFill>
                  </a:tcPr>
                </a:tc>
                <a:tc>
                  <a:txBody>
                    <a:bodyPr wrap="square"/>
                    <a:lstStyle/>
                    <a:p>
                      <a:pPr>
                        <a:spcAft>
                          <a:spcPts val="0"/>
                        </a:spcAft>
                      </a:pPr>
                      <a:r>
                        <a:rPr b="1" sz="1500">
                          <a:solidFill>
                            <a:srgbClr val="222222"/>
                          </a:solidFill>
                          <a:latin typeface="Calibri"/>
                        </a:rPr>
                        <a:t>yes</a:t>
                      </a:r>
                    </a:p>
                  </a:txBody>
                  <a:tcPr marL="73152" marR="73152" marT="36576" marB="36576">
                    <a:solidFill>
                      <a:srgbClr val="F3F4F6"/>
                    </a:solidFill>
                  </a:tcPr>
                </a:tc>
                <a:tc>
                  <a:txBody>
                    <a:bodyPr wrap="square"/>
                    <a:lstStyle/>
                    <a:p>
                      <a:pPr>
                        <a:spcAft>
                          <a:spcPts val="0"/>
                        </a:spcAft>
                      </a:pPr>
                      <a:r>
                        <a:rPr sz="1500">
                          <a:solidFill>
                            <a:srgbClr val="222222"/>
                          </a:solidFill>
                          <a:latin typeface="Calibri"/>
                        </a:rPr>
                        <a:t>8 ms</a:t>
                      </a:r>
                    </a:p>
                  </a:txBody>
                  <a:tcPr marL="73152" marR="73152" marT="36576" marB="36576">
                    <a:solidFill>
                      <a:srgbClr val="F3F4F6"/>
                    </a:solidFill>
                  </a:tcPr>
                </a:tc>
              </a:tr>
              <a:tr h="457200">
                <a:tc>
                  <a:txBody>
                    <a:bodyPr wrap="square"/>
                    <a:lstStyle/>
                    <a:p>
                      <a:pPr>
                        <a:spcAft>
                          <a:spcPts val="0"/>
                        </a:spcAft>
                      </a:pPr>
                      <a:r>
                        <a:rPr sz="1400">
                          <a:solidFill>
                            <a:srgbClr val="222222"/>
                          </a:solidFill>
                          <a:latin typeface="Consolas"/>
                        </a:rPr>
                        <a:t>download e-statement for march</a:t>
                      </a:r>
                    </a:p>
                  </a:txBody>
                  <a:tcPr marL="73152" marR="73152" marT="36576" marB="36576">
                    <a:solidFill>
                      <a:srgbClr val="FFFFFF"/>
                    </a:solidFill>
                  </a:tcPr>
                </a:tc>
                <a:tc>
                  <a:txBody>
                    <a:bodyPr wrap="square"/>
                    <a:lstStyle/>
                    <a:p>
                      <a:pPr>
                        <a:spcAft>
                          <a:spcPts val="0"/>
                        </a:spcAft>
                      </a:pPr>
                      <a:r>
                        <a:rPr b="1" sz="1500">
                          <a:solidFill>
                            <a:srgbClr val="222222"/>
                          </a:solidFill>
                          <a:latin typeface="Calibri"/>
                        </a:rPr>
                        <a:t>Pre-fills e-Statement form</a:t>
                      </a:r>
                      <a:r>
                        <a:rPr sz="1500">
                          <a:solidFill>
                            <a:srgbClr val="222222"/>
                          </a:solidFill>
                          <a:latin typeface="Calibri"/>
                        </a:rPr>
                        <a:t> (period=March)</a:t>
                      </a:r>
                    </a:p>
                  </a:txBody>
                  <a:tcPr marL="73152" marR="73152" marT="36576" marB="36576">
                    <a:solidFill>
                      <a:srgbClr val="FFFFFF"/>
                    </a:solidFill>
                  </a:tcPr>
                </a:tc>
                <a:tc>
                  <a:txBody>
                    <a:bodyPr wrap="square"/>
                    <a:lstStyle/>
                    <a:p>
                      <a:pPr>
                        <a:spcAft>
                          <a:spcPts val="0"/>
                        </a:spcAft>
                      </a:pPr>
                      <a:r>
                        <a:rPr b="1" sz="1500">
                          <a:solidFill>
                            <a:srgbClr val="222222"/>
                          </a:solidFill>
                          <a:latin typeface="Calibri"/>
                        </a:rPr>
                        <a:t>yes</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12 ms</a:t>
                      </a:r>
                    </a:p>
                  </a:txBody>
                  <a:tcPr marL="73152" marR="73152" marT="36576" marB="36576">
                    <a:solidFill>
                      <a:srgbClr val="FFFFFF"/>
                    </a:solidFill>
                  </a:tcPr>
                </a:tc>
              </a:tr>
            </a:tbl>
          </a:graphicData>
        </a:graphic>
      </p:graphicFrame>
      <p:sp>
        <p:nvSpPr>
          <p:cNvPr id="6" name="TextBox 5"/>
          <p:cNvSpPr txBox="1"/>
          <p:nvPr/>
        </p:nvSpPr>
        <p:spPr>
          <a:xfrm>
            <a:off x="548640" y="5394960"/>
            <a:ext cx="10972800" cy="457200"/>
          </a:xfrm>
          <a:prstGeom prst="rect">
            <a:avLst/>
          </a:prstGeom>
          <a:noFill/>
        </p:spPr>
        <p:txBody>
          <a:bodyPr wrap="square" anchor="t" lIns="45720" rIns="45720">
            <a:spAutoFit/>
          </a:bodyPr>
          <a:lstStyle/>
          <a:p>
            <a:pPr>
              <a:spcAft>
                <a:spcPts val="600"/>
              </a:spcAft>
            </a:pPr>
            <a:r>
              <a:rPr sz="1400">
                <a:solidFill>
                  <a:srgbClr val="6B7280"/>
                </a:solidFill>
                <a:latin typeface="Calibri"/>
              </a:rPr>
              <a:t>Measured against the running stack, 67 seeded features.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How it works — use case view</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240280" y="1280160"/>
            <a:ext cx="7086600" cy="5257800"/>
          </a:xfrm>
          <a:prstGeom prst="rect">
            <a:avLst/>
          </a:prstGeom>
          <a:solidFill>
            <a:srgbClr val="FAFAFB"/>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t" tIns="73152"/>
          <a:lstStyle/>
          <a:p>
            <a:pPr algn="ctr"/>
            <a:r>
              <a:rPr sz="1200" b="1">
                <a:solidFill>
                  <a:srgbClr val="1F2A44"/>
                </a:solidFill>
              </a:rPr>
              <a:t>Intuitive Search service</a:t>
            </a:r>
          </a:p>
        </p:txBody>
      </p:sp>
      <p:sp>
        <p:nvSpPr>
          <p:cNvPr id="6" name="Oval 5"/>
          <p:cNvSpPr/>
          <p:nvPr/>
        </p:nvSpPr>
        <p:spPr>
          <a:xfrm>
            <a:off x="1042416" y="2148840"/>
            <a:ext cx="292608" cy="292608"/>
          </a:xfrm>
          <a:prstGeom prst="ellipse">
            <a:avLst/>
          </a:prstGeom>
          <a:solidFill>
            <a:srgbClr val="EEF3FF"/>
          </a:solidFill>
          <a:ln w="19050">
            <a:solidFill>
              <a:srgbClr val="3B5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1188720" y="2441448"/>
            <a:ext cx="0" cy="457200"/>
          </a:xfrm>
          <a:prstGeom prst="line">
            <a:avLst/>
          </a:prstGeom>
          <a:ln w="19050">
            <a:solidFill>
              <a:srgbClr val="3B5BD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14400" y="2551176"/>
            <a:ext cx="548640" cy="0"/>
          </a:xfrm>
          <a:prstGeom prst="line">
            <a:avLst/>
          </a:prstGeom>
          <a:ln w="19050">
            <a:solidFill>
              <a:srgbClr val="3B5BD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960120" y="2898648"/>
            <a:ext cx="228600" cy="411480"/>
          </a:xfrm>
          <a:prstGeom prst="line">
            <a:avLst/>
          </a:prstGeom>
          <a:ln w="19050">
            <a:solidFill>
              <a:srgbClr val="3B5BD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88720" y="2898648"/>
            <a:ext cx="228600" cy="411480"/>
          </a:xfrm>
          <a:prstGeom prst="line">
            <a:avLst/>
          </a:prstGeom>
          <a:ln w="19050">
            <a:solidFill>
              <a:srgbClr val="3B5BD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11480" y="3355848"/>
            <a:ext cx="1554480" cy="640080"/>
          </a:xfrm>
          <a:prstGeom prst="rect">
            <a:avLst/>
          </a:prstGeom>
          <a:noFill/>
        </p:spPr>
        <p:txBody>
          <a:bodyPr wrap="square">
            <a:spAutoFit/>
          </a:bodyPr>
          <a:lstStyle/>
          <a:p>
            <a:pPr algn="ctr"/>
            <a:r>
              <a:rPr sz="1200" b="1">
                <a:solidFill>
                  <a:srgbClr val="1F2A44"/>
                </a:solidFill>
              </a:rPr>
              <a:t>Customer</a:t>
            </a:r>
          </a:p>
          <a:p>
            <a:pPr algn="ctr"/>
            <a:r>
              <a:rPr sz="950" b="0">
                <a:solidFill>
                  <a:srgbClr val="6B7280"/>
                </a:solidFill>
              </a:rPr>
              <a:t>app search bar</a:t>
            </a:r>
          </a:p>
          <a:p>
            <a:pPr algn="ctr"/>
            <a:r>
              <a:rPr sz="950" b="0">
                <a:solidFill>
                  <a:srgbClr val="6B7280"/>
                </a:solidFill>
              </a:rPr>
              <a:t>POST /api/search</a:t>
            </a:r>
          </a:p>
        </p:txBody>
      </p:sp>
      <p:sp>
        <p:nvSpPr>
          <p:cNvPr id="12" name="Oval 11"/>
          <p:cNvSpPr/>
          <p:nvPr/>
        </p:nvSpPr>
        <p:spPr>
          <a:xfrm>
            <a:off x="1042416" y="4343400"/>
            <a:ext cx="292608" cy="292608"/>
          </a:xfrm>
          <a:prstGeom prst="ellipse">
            <a:avLst/>
          </a:prstGeom>
          <a:solidFill>
            <a:srgbClr val="EEF3FF"/>
          </a:solidFill>
          <a:ln w="19050">
            <a:solidFill>
              <a:srgbClr val="3B5B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188720" y="4636008"/>
            <a:ext cx="0" cy="457200"/>
          </a:xfrm>
          <a:prstGeom prst="line">
            <a:avLst/>
          </a:prstGeom>
          <a:ln w="19050">
            <a:solidFill>
              <a:srgbClr val="3B5BD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4400" y="4745736"/>
            <a:ext cx="548640" cy="0"/>
          </a:xfrm>
          <a:prstGeom prst="line">
            <a:avLst/>
          </a:prstGeom>
          <a:ln w="19050">
            <a:solidFill>
              <a:srgbClr val="3B5BD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960120" y="5093208"/>
            <a:ext cx="228600" cy="411480"/>
          </a:xfrm>
          <a:prstGeom prst="line">
            <a:avLst/>
          </a:prstGeom>
          <a:ln w="19050">
            <a:solidFill>
              <a:srgbClr val="3B5BD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88720" y="5093208"/>
            <a:ext cx="228600" cy="411480"/>
          </a:xfrm>
          <a:prstGeom prst="line">
            <a:avLst/>
          </a:prstGeom>
          <a:ln w="19050">
            <a:solidFill>
              <a:srgbClr val="3B5BD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1480" y="5550408"/>
            <a:ext cx="1554480" cy="640080"/>
          </a:xfrm>
          <a:prstGeom prst="rect">
            <a:avLst/>
          </a:prstGeom>
          <a:noFill/>
        </p:spPr>
        <p:txBody>
          <a:bodyPr wrap="square">
            <a:spAutoFit/>
          </a:bodyPr>
          <a:lstStyle/>
          <a:p>
            <a:pPr algn="ctr"/>
            <a:r>
              <a:rPr sz="1200" b="1">
                <a:solidFill>
                  <a:srgbClr val="1F2A44"/>
                </a:solidFill>
              </a:rPr>
              <a:t>Typeahead client</a:t>
            </a:r>
          </a:p>
          <a:p>
            <a:pPr algn="ctr"/>
            <a:r>
              <a:rPr sz="950" b="0">
                <a:solidFill>
                  <a:srgbClr val="6B7280"/>
                </a:solidFill>
              </a:rPr>
              <a:t>GET /suggest</a:t>
            </a:r>
          </a:p>
        </p:txBody>
      </p:sp>
      <p:sp>
        <p:nvSpPr>
          <p:cNvPr id="18" name="Rectangle 17"/>
          <p:cNvSpPr/>
          <p:nvPr/>
        </p:nvSpPr>
        <p:spPr>
          <a:xfrm>
            <a:off x="2697480" y="1691640"/>
            <a:ext cx="2194560" cy="731520"/>
          </a:xfrm>
          <a:prstGeom prst="rect">
            <a:avLst/>
          </a:prstGeom>
          <a:solidFill>
            <a:srgbClr val="FFF0F0"/>
          </a:solidFill>
          <a:ln w="15875">
            <a:solidFill>
              <a:srgbClr val="C92A2A"/>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C92A2A"/>
                </a:solidFill>
                <a:latin typeface="Calibri"/>
              </a:rPr>
              <a:t>✗  Execute a transaction</a:t>
            </a:r>
          </a:p>
          <a:p>
            <a:pPr algn="ctr"/>
            <a:r>
              <a:rPr sz="950" b="0">
                <a:solidFill>
                  <a:srgbClr val="C92A2A"/>
                </a:solidFill>
                <a:latin typeface="Calibri"/>
              </a:rPr>
              <a:t>no such use case exists</a:t>
            </a:r>
          </a:p>
        </p:txBody>
      </p:sp>
      <p:sp>
        <p:nvSpPr>
          <p:cNvPr id="19" name="Oval 18"/>
          <p:cNvSpPr/>
          <p:nvPr/>
        </p:nvSpPr>
        <p:spPr>
          <a:xfrm>
            <a:off x="2697480" y="2971800"/>
            <a:ext cx="2194560" cy="960120"/>
          </a:xfrm>
          <a:prstGeom prst="ellipse">
            <a:avLst/>
          </a:prstGeom>
          <a:solidFill>
            <a:srgbClr val="FFFFFF"/>
          </a:solidFill>
          <a:ln w="15875">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200" b="1">
                <a:solidFill>
                  <a:srgbClr val="222222"/>
                </a:solidFill>
                <a:latin typeface="Calibri"/>
              </a:rPr>
              <a:t>Search for a feature</a:t>
            </a:r>
          </a:p>
          <a:p>
            <a:pPr algn="ctr"/>
            <a:r>
              <a:rPr sz="950" b="0">
                <a:solidFill>
                  <a:srgbClr val="6B7280"/>
                </a:solidFill>
                <a:latin typeface="Calibri"/>
              </a:rPr>
              <a:t>→ action: navigate (default)</a:t>
            </a:r>
          </a:p>
        </p:txBody>
      </p:sp>
      <p:sp>
        <p:nvSpPr>
          <p:cNvPr id="20" name="Oval 19"/>
          <p:cNvSpPr/>
          <p:nvPr/>
        </p:nvSpPr>
        <p:spPr>
          <a:xfrm>
            <a:off x="2697480" y="4983480"/>
            <a:ext cx="2194560" cy="960120"/>
          </a:xfrm>
          <a:prstGeom prst="ellipse">
            <a:avLst/>
          </a:prstGeom>
          <a:solidFill>
            <a:srgbClr val="FFFFFF"/>
          </a:solidFill>
          <a:ln w="15875">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200" b="1">
                <a:solidFill>
                  <a:srgbClr val="222222"/>
                </a:solidFill>
                <a:latin typeface="Calibri"/>
              </a:rPr>
              <a:t>Pre-fill a form</a:t>
            </a:r>
          </a:p>
          <a:p>
            <a:pPr algn="ctr"/>
            <a:r>
              <a:rPr sz="950" b="0">
                <a:solidFill>
                  <a:srgbClr val="6B7280"/>
                </a:solidFill>
                <a:latin typeface="Calibri"/>
              </a:rPr>
              <a:t>→ action: prefill_form</a:t>
            </a:r>
          </a:p>
        </p:txBody>
      </p:sp>
      <p:sp>
        <p:nvSpPr>
          <p:cNvPr id="21" name="Oval 20"/>
          <p:cNvSpPr/>
          <p:nvPr/>
        </p:nvSpPr>
        <p:spPr>
          <a:xfrm>
            <a:off x="5989320" y="1508760"/>
            <a:ext cx="2926080" cy="1005840"/>
          </a:xfrm>
          <a:prstGeom prst="ellipse">
            <a:avLst/>
          </a:prstGeom>
          <a:solidFill>
            <a:srgbClr val="FFFFFF"/>
          </a:solidFill>
          <a:ln w="15875">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200" b="1">
                <a:solidFill>
                  <a:srgbClr val="222222"/>
                </a:solidFill>
                <a:latin typeface="Calibri"/>
              </a:rPr>
              <a:t>Stage 1 · Hybrid search</a:t>
            </a:r>
          </a:p>
          <a:p>
            <a:pPr algn="ctr"/>
            <a:r>
              <a:rPr sz="950" b="0">
                <a:solidFill>
                  <a:srgbClr val="6B7280"/>
                </a:solidFill>
                <a:latin typeface="Calibri"/>
              </a:rPr>
              <a:t>FTS · pg_trgm · pgvector · containment</a:t>
            </a:r>
          </a:p>
          <a:p>
            <a:pPr algn="ctr"/>
            <a:r>
              <a:rPr sz="950" b="0">
                <a:solidFill>
                  <a:srgbClr val="6B7280"/>
                </a:solidFill>
                <a:latin typeface="Calibri"/>
              </a:rPr>
              <a:t>~10 ms, no LLM</a:t>
            </a:r>
          </a:p>
        </p:txBody>
      </p:sp>
      <p:sp>
        <p:nvSpPr>
          <p:cNvPr id="22" name="Oval 21"/>
          <p:cNvSpPr/>
          <p:nvPr/>
        </p:nvSpPr>
        <p:spPr>
          <a:xfrm>
            <a:off x="5989320" y="2697480"/>
            <a:ext cx="2926080" cy="914400"/>
          </a:xfrm>
          <a:prstGeom prst="ellipse">
            <a:avLst/>
          </a:prstGeom>
          <a:solidFill>
            <a:srgbClr val="FFFFFF"/>
          </a:solidFill>
          <a:ln w="15875">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200" b="1">
                <a:solidFill>
                  <a:srgbClr val="222222"/>
                </a:solidFill>
                <a:latin typeface="Calibri"/>
              </a:rPr>
              <a:t>Signal detection</a:t>
            </a:r>
          </a:p>
          <a:p>
            <a:pPr algn="ctr"/>
            <a:r>
              <a:rPr sz="950" b="0">
                <a:solidFill>
                  <a:srgbClr val="6B7280"/>
                </a:solidFill>
                <a:latin typeface="Calibri"/>
              </a:rPr>
              <a:t>numbers · currency · dates · extra tokens</a:t>
            </a:r>
          </a:p>
          <a:p>
            <a:pPr algn="ctr"/>
            <a:r>
              <a:rPr sz="950" b="0">
                <a:solidFill>
                  <a:srgbClr val="6B7280"/>
                </a:solidFill>
                <a:latin typeface="Calibri"/>
              </a:rPr>
              <a:t>µs, no LLM</a:t>
            </a:r>
          </a:p>
        </p:txBody>
      </p:sp>
      <p:sp>
        <p:nvSpPr>
          <p:cNvPr id="23" name="Oval 22"/>
          <p:cNvSpPr/>
          <p:nvPr/>
        </p:nvSpPr>
        <p:spPr>
          <a:xfrm>
            <a:off x="5989320" y="4069080"/>
            <a:ext cx="2926080" cy="960120"/>
          </a:xfrm>
          <a:prstGeom prst="ellipse">
            <a:avLst/>
          </a:prstGeom>
          <a:solidFill>
            <a:srgbClr val="FFFFFF"/>
          </a:solidFill>
          <a:ln w="15875">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200" b="1">
                <a:solidFill>
                  <a:srgbClr val="222222"/>
                </a:solidFill>
                <a:latin typeface="Calibri"/>
              </a:rPr>
              <a:t>Stage 2 · Extract slots</a:t>
            </a:r>
          </a:p>
          <a:p>
            <a:pPr algn="ctr"/>
            <a:r>
              <a:rPr sz="950" b="0">
                <a:solidFill>
                  <a:srgbClr val="6B7280"/>
                </a:solidFill>
                <a:latin typeface="Calibri"/>
              </a:rPr>
              <a:t>one generic prompt, feature's slot schema</a:t>
            </a:r>
          </a:p>
        </p:txBody>
      </p:sp>
      <p:sp>
        <p:nvSpPr>
          <p:cNvPr id="24" name="Oval 23"/>
          <p:cNvSpPr/>
          <p:nvPr/>
        </p:nvSpPr>
        <p:spPr>
          <a:xfrm>
            <a:off x="5989320" y="5303520"/>
            <a:ext cx="2926080" cy="960120"/>
          </a:xfrm>
          <a:prstGeom prst="ellipse">
            <a:avLst/>
          </a:prstGeom>
          <a:solidFill>
            <a:srgbClr val="FFFFFF"/>
          </a:solidFill>
          <a:ln w="15875">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200" b="1">
                <a:solidFill>
                  <a:srgbClr val="222222"/>
                </a:solidFill>
                <a:latin typeface="Calibri"/>
              </a:rPr>
              <a:t>Stage 3 · Resolve entities</a:t>
            </a:r>
          </a:p>
          <a:p>
            <a:pPr algn="ctr"/>
            <a:r>
              <a:rPr sz="950" b="0">
                <a:solidFill>
                  <a:srgbClr val="6B7280"/>
                </a:solidFill>
                <a:latin typeface="Calibri"/>
              </a:rPr>
              <a:t>"mom" → payee acc_123, user-scoped</a:t>
            </a:r>
          </a:p>
        </p:txBody>
      </p:sp>
      <p:sp>
        <p:nvSpPr>
          <p:cNvPr id="25" name="Can 24"/>
          <p:cNvSpPr/>
          <p:nvPr/>
        </p:nvSpPr>
        <p:spPr>
          <a:xfrm>
            <a:off x="9829800" y="2148840"/>
            <a:ext cx="1920240" cy="1234440"/>
          </a:xfrm>
          <a:prstGeom prst="can">
            <a:avLst/>
          </a:prstGeom>
          <a:solidFill>
            <a:srgbClr val="F3F4F6"/>
          </a:solidFill>
          <a:ln w="1587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22222"/>
                </a:solidFill>
                <a:latin typeface="Calibri"/>
              </a:rPr>
              <a:t>PostgreSQL</a:t>
            </a:r>
          </a:p>
          <a:p>
            <a:pPr algn="ctr"/>
            <a:r>
              <a:rPr sz="950" b="0">
                <a:solidFill>
                  <a:srgbClr val="6B7280"/>
                </a:solidFill>
                <a:latin typeface="Calibri"/>
              </a:rPr>
              <a:t>pgvector · pg_trgm</a:t>
            </a:r>
          </a:p>
        </p:txBody>
      </p:sp>
      <p:sp>
        <p:nvSpPr>
          <p:cNvPr id="26" name="Rectangle 25"/>
          <p:cNvSpPr/>
          <p:nvPr/>
        </p:nvSpPr>
        <p:spPr>
          <a:xfrm>
            <a:off x="9829800" y="4160520"/>
            <a:ext cx="1920240" cy="1005840"/>
          </a:xfrm>
          <a:prstGeom prst="rect">
            <a:avLst/>
          </a:prstGeom>
          <a:solidFill>
            <a:srgbClr val="F3F4F6"/>
          </a:solidFill>
          <a:ln w="15875">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22222"/>
                </a:solidFill>
                <a:latin typeface="Calibri"/>
              </a:rPr>
              <a:t>LLM provider</a:t>
            </a:r>
          </a:p>
          <a:p>
            <a:pPr algn="ctr"/>
            <a:r>
              <a:rPr sz="950" b="0">
                <a:solidFill>
                  <a:srgbClr val="6B7280"/>
                </a:solidFill>
                <a:latin typeface="Calibri"/>
              </a:rPr>
              <a:t>heuristic · ollama · anthropic</a:t>
            </a:r>
          </a:p>
        </p:txBody>
      </p:sp>
      <p:cxnSp>
        <p:nvCxnSpPr>
          <p:cNvPr id="27" name="Connector 26"/>
          <p:cNvCxnSpPr/>
          <p:nvPr/>
        </p:nvCxnSpPr>
        <p:spPr>
          <a:xfrm>
            <a:off x="1965960" y="3169518"/>
            <a:ext cx="794056" cy="122592"/>
          </a:xfrm>
          <a:prstGeom prst="line">
            <a:avLst/>
          </a:prstGeom>
          <a:ln w="15875">
            <a:solidFill>
              <a:srgbClr val="3B5BD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965960" y="3856905"/>
            <a:ext cx="1239830" cy="852656"/>
          </a:xfrm>
          <a:prstGeom prst="line">
            <a:avLst/>
          </a:prstGeom>
          <a:ln w="15875">
            <a:solidFill>
              <a:srgbClr val="3B5B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808635" y="4420393"/>
            <a:ext cx="137160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900" i="1">
                <a:solidFill>
                  <a:srgbClr val="6B7280"/>
                </a:solidFill>
                <a:latin typeface="Calibri"/>
              </a:rPr>
              <a:t>allow_extraction=false</a:t>
            </a:r>
          </a:p>
          <a:p>
            <a:pPr algn="ctr"/>
            <a:r>
              <a:rPr sz="900" i="1">
                <a:solidFill>
                  <a:srgbClr val="6B7280"/>
                </a:solidFill>
                <a:latin typeface="Calibri"/>
              </a:rPr>
              <a:t>(hard-coded)</a:t>
            </a:r>
          </a:p>
        </p:txBody>
      </p:sp>
      <p:cxnSp>
        <p:nvCxnSpPr>
          <p:cNvPr id="30" name="Connector 29"/>
          <p:cNvCxnSpPr/>
          <p:nvPr/>
        </p:nvCxnSpPr>
        <p:spPr>
          <a:xfrm flipV="1">
            <a:off x="4610361" y="2390538"/>
            <a:ext cx="1879819" cy="740178"/>
          </a:xfrm>
          <a:prstGeom prst="line">
            <a:avLst/>
          </a:prstGeom>
          <a:ln w="15875">
            <a:solidFill>
              <a:srgbClr val="222222"/>
            </a:solidFill>
            <a:prstDash val="dash"/>
            <a:tailEnd type="arrow"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138791" y="2632611"/>
            <a:ext cx="8229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900" i="1">
                <a:solidFill>
                  <a:srgbClr val="6B7280"/>
                </a:solidFill>
                <a:latin typeface="Calibri"/>
              </a:rPr>
              <a:t>«include»</a:t>
            </a:r>
          </a:p>
        </p:txBody>
      </p:sp>
      <p:cxnSp>
        <p:nvCxnSpPr>
          <p:cNvPr id="32" name="Connector 31"/>
          <p:cNvCxnSpPr/>
          <p:nvPr/>
        </p:nvCxnSpPr>
        <p:spPr>
          <a:xfrm flipV="1">
            <a:off x="4873593" y="3269726"/>
            <a:ext cx="1162803" cy="94478"/>
          </a:xfrm>
          <a:prstGeom prst="line">
            <a:avLst/>
          </a:prstGeom>
          <a:ln w="15875">
            <a:solidFill>
              <a:srgbClr val="222222"/>
            </a:solidFill>
            <a:prstDash val="dash"/>
            <a:tailEnd type="arrow"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043515" y="3188949"/>
            <a:ext cx="8229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900" i="1">
                <a:solidFill>
                  <a:srgbClr val="6B7280"/>
                </a:solidFill>
                <a:latin typeface="Calibri"/>
              </a:rPr>
              <a:t>«include»</a:t>
            </a:r>
          </a:p>
        </p:txBody>
      </p:sp>
      <p:cxnSp>
        <p:nvCxnSpPr>
          <p:cNvPr id="34" name="Connector 33"/>
          <p:cNvCxnSpPr/>
          <p:nvPr/>
        </p:nvCxnSpPr>
        <p:spPr>
          <a:xfrm flipV="1">
            <a:off x="3794760" y="3931920"/>
            <a:ext cx="0" cy="1051560"/>
          </a:xfrm>
          <a:prstGeom prst="line">
            <a:avLst/>
          </a:prstGeom>
          <a:ln w="15875">
            <a:solidFill>
              <a:srgbClr val="222222"/>
            </a:solidFill>
            <a:prstDash val="dash"/>
            <a:tailEnd type="arrow"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3863340" y="4174236"/>
            <a:ext cx="1691640" cy="566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900" i="1">
                <a:solidFill>
                  <a:srgbClr val="3B5BDB"/>
                </a:solidFill>
                <a:latin typeface="Calibri"/>
              </a:rPr>
              <a:t>«extend»</a:t>
            </a:r>
          </a:p>
          <a:p>
            <a:pPr algn="ctr"/>
            <a:r>
              <a:rPr sz="900" i="1">
                <a:solidFill>
                  <a:srgbClr val="3B5BDB"/>
                </a:solidFill>
                <a:latin typeface="Calibri"/>
              </a:rPr>
              <a:t>[signal ≥ threshold ∧ has_params</a:t>
            </a:r>
          </a:p>
          <a:p>
            <a:pPr algn="ctr"/>
            <a:r>
              <a:rPr sz="900" i="1">
                <a:solidFill>
                  <a:srgbClr val="3B5BDB"/>
                </a:solidFill>
                <a:latin typeface="Calibri"/>
              </a:rPr>
              <a:t>∧ allow_extraction ∧ confident match]</a:t>
            </a:r>
          </a:p>
        </p:txBody>
      </p:sp>
      <p:cxnSp>
        <p:nvCxnSpPr>
          <p:cNvPr id="36" name="Connector 35"/>
          <p:cNvCxnSpPr/>
          <p:nvPr/>
        </p:nvCxnSpPr>
        <p:spPr>
          <a:xfrm flipV="1">
            <a:off x="4747465" y="4840077"/>
            <a:ext cx="1541146" cy="385286"/>
          </a:xfrm>
          <a:prstGeom prst="line">
            <a:avLst/>
          </a:prstGeom>
          <a:ln w="15875">
            <a:solidFill>
              <a:srgbClr val="222222"/>
            </a:solidFill>
            <a:prstDash val="dash"/>
            <a:tailEnd type="arrow"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106558" y="4977856"/>
            <a:ext cx="8229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900" i="1">
                <a:solidFill>
                  <a:srgbClr val="6B7280"/>
                </a:solidFill>
                <a:latin typeface="Calibri"/>
              </a:rPr>
              <a:t>«include»</a:t>
            </a:r>
          </a:p>
        </p:txBody>
      </p:sp>
      <p:cxnSp>
        <p:nvCxnSpPr>
          <p:cNvPr id="38" name="Connector 37"/>
          <p:cNvCxnSpPr/>
          <p:nvPr/>
        </p:nvCxnSpPr>
        <p:spPr>
          <a:xfrm>
            <a:off x="4870731" y="5557687"/>
            <a:ext cx="1167988" cy="102199"/>
          </a:xfrm>
          <a:prstGeom prst="line">
            <a:avLst/>
          </a:prstGeom>
          <a:ln w="15875">
            <a:solidFill>
              <a:srgbClr val="222222"/>
            </a:solidFill>
            <a:prstDash val="dash"/>
            <a:tailEnd type="arrow" w="med" len="med"/>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043245" y="5480770"/>
            <a:ext cx="82296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900" i="1">
                <a:solidFill>
                  <a:srgbClr val="6B7280"/>
                </a:solidFill>
                <a:latin typeface="Calibri"/>
              </a:rPr>
              <a:t>«include»</a:t>
            </a:r>
          </a:p>
        </p:txBody>
      </p:sp>
      <p:cxnSp>
        <p:nvCxnSpPr>
          <p:cNvPr id="40" name="Connector 39"/>
          <p:cNvCxnSpPr/>
          <p:nvPr/>
        </p:nvCxnSpPr>
        <p:spPr>
          <a:xfrm flipH="1" flipV="1">
            <a:off x="4699718" y="3723347"/>
            <a:ext cx="1672876" cy="501863"/>
          </a:xfrm>
          <a:prstGeom prst="line">
            <a:avLst/>
          </a:prstGeom>
          <a:ln w="15875">
            <a:solidFill>
              <a:srgbClr val="222222"/>
            </a:solidFill>
            <a:prstDash val="dash"/>
            <a:tailEnd type="arrow" w="med" len="med"/>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5284696" y="3654238"/>
            <a:ext cx="123444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rIns="27432" tIns="9144" bIns="9144"/>
          <a:lstStyle/>
          <a:p>
            <a:pPr algn="ctr"/>
            <a:r>
              <a:rPr sz="900" i="1">
                <a:solidFill>
                  <a:srgbClr val="6B7280"/>
                </a:solidFill>
                <a:latin typeface="Calibri"/>
              </a:rPr>
              <a:t>extraction fails →</a:t>
            </a:r>
          </a:p>
          <a:p>
            <a:pPr algn="ctr"/>
            <a:r>
              <a:rPr sz="900" i="1">
                <a:solidFill>
                  <a:srgbClr val="6B7280"/>
                </a:solidFill>
                <a:latin typeface="Calibri"/>
              </a:rPr>
              <a:t>degrade to navigate</a:t>
            </a:r>
          </a:p>
        </p:txBody>
      </p:sp>
      <p:cxnSp>
        <p:nvCxnSpPr>
          <p:cNvPr id="42" name="Connector 41"/>
          <p:cNvCxnSpPr/>
          <p:nvPr/>
        </p:nvCxnSpPr>
        <p:spPr>
          <a:xfrm>
            <a:off x="8674810" y="2287987"/>
            <a:ext cx="1154990" cy="261059"/>
          </a:xfrm>
          <a:prstGeom prst="line">
            <a:avLst/>
          </a:prstGeom>
          <a:ln w="15875">
            <a:solidFill>
              <a:srgbClr val="22222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951480" y="3383280"/>
            <a:ext cx="2155757" cy="1949039"/>
          </a:xfrm>
          <a:prstGeom prst="line">
            <a:avLst/>
          </a:prstGeom>
          <a:ln w="15875">
            <a:solidFill>
              <a:srgbClr val="22222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907495" y="4598973"/>
            <a:ext cx="922305" cy="31586"/>
          </a:xfrm>
          <a:prstGeom prst="line">
            <a:avLst/>
          </a:prstGeom>
          <a:ln w="15875">
            <a:solidFill>
              <a:srgbClr val="22222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240280" y="6446520"/>
            <a:ext cx="9144000" cy="320040"/>
          </a:xfrm>
          <a:prstGeom prst="rect">
            <a:avLst/>
          </a:prstGeom>
          <a:noFill/>
        </p:spPr>
        <p:txBody>
          <a:bodyPr wrap="square" anchor="t" lIns="45720" rIns="45720">
            <a:spAutoFit/>
          </a:bodyPr>
          <a:lstStyle/>
          <a:p>
            <a:pPr>
              <a:spcAft>
                <a:spcPts val="600"/>
              </a:spcAft>
            </a:pPr>
            <a:r>
              <a:rPr sz="1000">
                <a:solidFill>
                  <a:srgbClr val="6B7280"/>
                </a:solidFill>
                <a:latin typeface="Calibri"/>
              </a:rPr>
              <a:t>solid = uses   ·   dashed «include» = always runs   ·   dashed «extend» = only when the guard holds (the LLM gate)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Why in that shape</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64240" cy="3566160"/>
          </a:xfrm>
          <a:prstGeom prst="rect">
            <a:avLst/>
          </a:prstGeom>
          <a:noFill/>
        </p:spPr>
        <p:txBody>
          <a:bodyPr wrap="square" anchor="t" lIns="45720" rIns="45720">
            <a:spAutoFit/>
          </a:bodyPr>
          <a:lstStyle/>
          <a:p>
            <a:pPr>
              <a:spcAft>
                <a:spcPts val="600"/>
              </a:spcAft>
            </a:pPr>
            <a:r>
              <a:rPr sz="2000">
                <a:solidFill>
                  <a:srgbClr val="222222"/>
                </a:solidFill>
                <a:latin typeface="Calibri"/>
              </a:rPr>
              <a:t>Three properties we designed for:</a:t>
            </a:r>
          </a:p>
          <a:p>
            <a:pPr>
              <a:spcAft>
                <a:spcPts val="600"/>
              </a:spcAft>
            </a:pPr>
          </a:p>
          <a:p>
            <a:pPr>
              <a:spcAft>
                <a:spcPts val="600"/>
              </a:spcAft>
            </a:pPr>
            <a:r>
              <a:rPr sz="2000">
                <a:solidFill>
                  <a:srgbClr val="222222"/>
                </a:solidFill>
                <a:latin typeface="Calibri"/>
              </a:rPr>
              <a:t>1.  </a:t>
            </a:r>
            <a:r>
              <a:rPr b="1" sz="2000">
                <a:solidFill>
                  <a:srgbClr val="222222"/>
                </a:solidFill>
                <a:latin typeface="Calibri"/>
              </a:rPr>
              <a:t>Cheapest thing that could work.</a:t>
            </a:r>
            <a:r>
              <a:rPr sz="2000">
                <a:solidFill>
                  <a:srgbClr val="222222"/>
                </a:solidFill>
                <a:latin typeface="Calibri"/>
              </a:rPr>
              <a:t> The 80% case — "take me to a screen" — never touches the LLM. It's Postgres.</a:t>
            </a:r>
          </a:p>
          <a:p>
            <a:pPr>
              <a:spcAft>
                <a:spcPts val="600"/>
              </a:spcAft>
            </a:pPr>
          </a:p>
          <a:p>
            <a:pPr>
              <a:spcAft>
                <a:spcPts val="600"/>
              </a:spcAft>
            </a:pPr>
            <a:r>
              <a:rPr sz="2000">
                <a:solidFill>
                  <a:srgbClr val="222222"/>
                </a:solidFill>
                <a:latin typeface="Calibri"/>
              </a:rPr>
              <a:t>2.  </a:t>
            </a:r>
            <a:r>
              <a:rPr b="1" sz="2000">
                <a:solidFill>
                  <a:srgbClr val="222222"/>
                </a:solidFill>
                <a:latin typeface="Calibri"/>
              </a:rPr>
              <a:t>LLM only when the query genuinely carries parameters.</a:t>
            </a:r>
            <a:r>
              <a:rPr sz="2000">
                <a:solidFill>
                  <a:srgbClr val="222222"/>
                </a:solidFill>
                <a:latin typeface="Calibri"/>
              </a:rPr>
              <a:t> Four independent gates must all open. Typeahead physically cannot reach it.</a:t>
            </a:r>
          </a:p>
          <a:p>
            <a:pPr>
              <a:spcAft>
                <a:spcPts val="600"/>
              </a:spcAft>
            </a:pPr>
          </a:p>
          <a:p>
            <a:pPr>
              <a:spcAft>
                <a:spcPts val="600"/>
              </a:spcAft>
            </a:pPr>
            <a:r>
              <a:rPr sz="2000">
                <a:solidFill>
                  <a:srgbClr val="222222"/>
                </a:solidFill>
                <a:latin typeface="Calibri"/>
              </a:rPr>
              <a:t>3.  </a:t>
            </a:r>
            <a:r>
              <a:rPr b="1" sz="2000">
                <a:solidFill>
                  <a:srgbClr val="222222"/>
                </a:solidFill>
                <a:latin typeface="Calibri"/>
              </a:rPr>
              <a:t>Nothing the model returns is trusted.</a:t>
            </a:r>
            <a:r>
              <a:rPr sz="2000">
                <a:solidFill>
                  <a:srgbClr val="222222"/>
                </a:solidFill>
                <a:latin typeface="Calibri"/>
              </a:rPr>
              <a:t> The parser drops unknown keys, coerces types, and if extraction fails the answer degrades to plain navigation — never a wrong pre-fill.</a:t>
            </a:r>
          </a:p>
        </p:txBody>
      </p:sp>
      <p:sp>
        <p:nvSpPr>
          <p:cNvPr id="6" name="Rounded Rectangle 5"/>
          <p:cNvSpPr/>
          <p:nvPr/>
        </p:nvSpPr>
        <p:spPr>
          <a:xfrm>
            <a:off x="548640" y="5029200"/>
            <a:ext cx="11064240" cy="1097280"/>
          </a:xfrm>
          <a:prstGeom prst="roundRect">
            <a:avLst>
              <a:gd name="adj" fmla="val 8000"/>
            </a:avLst>
          </a:prstGeom>
          <a:solidFill>
            <a:srgbClr val="FFF0F0"/>
          </a:solidFill>
          <a:ln>
            <a:solidFill>
              <a:srgbClr val="C92A2A"/>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spcAft>
                <a:spcPts val="600"/>
              </a:spcAft>
            </a:pPr>
            <a:r>
              <a:rPr sz="2000" b="1">
                <a:solidFill>
                  <a:srgbClr val="C92A2A"/>
                </a:solidFill>
                <a:latin typeface="Calibri"/>
              </a:rPr>
              <a:t>The strongest action this service can return is </a:t>
            </a:r>
            <a:r>
              <a:rPr sz="1900" b="1">
                <a:solidFill>
                  <a:srgbClr val="C92A2A"/>
                </a:solidFill>
                <a:latin typeface="Consolas"/>
              </a:rPr>
              <a:t>prefill_form</a:t>
            </a:r>
            <a:r>
              <a:rPr sz="2000" b="1">
                <a:solidFill>
                  <a:srgbClr val="C92A2A"/>
                </a:solidFill>
                <a:latin typeface="Calibri"/>
              </a:rPr>
              <a:t>. There is no execute path anywhere in the codebase.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The economics of the LLM gate</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64240" cy="3931920"/>
          </a:xfrm>
          <a:prstGeom prst="rect">
            <a:avLst/>
          </a:prstGeom>
          <a:noFill/>
        </p:spPr>
        <p:txBody>
          <a:bodyPr wrap="square" anchor="t" lIns="45720" rIns="45720">
            <a:spAutoFit/>
          </a:bodyPr>
          <a:lstStyle/>
          <a:p>
            <a:pPr>
              <a:spcAft>
                <a:spcPts val="600"/>
              </a:spcAft>
            </a:pPr>
            <a:r>
              <a:rPr sz="1800">
                <a:solidFill>
                  <a:srgbClr val="222222"/>
                </a:solidFill>
                <a:latin typeface="Calibri"/>
              </a:rPr>
              <a:t>If we called the LLM on every keystroke, at typeahead volumes we'd spend most of the search bar's budget on requests that were never going to need it. The gate is what stops that.</a:t>
            </a:r>
          </a:p>
          <a:p>
            <a:pPr>
              <a:spcAft>
                <a:spcPts val="600"/>
              </a:spcAft>
            </a:pPr>
          </a:p>
          <a:p>
            <a:pPr>
              <a:spcAft>
                <a:spcPts val="600"/>
              </a:spcAft>
            </a:pPr>
            <a:r>
              <a:rPr sz="1800">
                <a:solidFill>
                  <a:srgbClr val="222222"/>
                </a:solidFill>
                <a:latin typeface="Calibri"/>
              </a:rPr>
              <a:t>On the seeded workload:</a:t>
            </a:r>
          </a:p>
          <a:p>
            <a:pPr>
              <a:spcAft>
                <a:spcPts val="600"/>
              </a:spcAft>
            </a:pPr>
            <a:r>
              <a:rPr sz="1800">
                <a:solidFill>
                  <a:srgbClr val="222222"/>
                </a:solidFill>
                <a:latin typeface="Calibri"/>
              </a:rPr>
              <a:t>•  </a:t>
            </a:r>
            <a:r>
              <a:rPr sz="1700">
                <a:solidFill>
                  <a:srgbClr val="222222"/>
                </a:solidFill>
                <a:latin typeface="Consolas"/>
              </a:rPr>
              <a:t>trf</a:t>
            </a:r>
            <a:r>
              <a:rPr sz="1800">
                <a:solidFill>
                  <a:srgbClr val="222222"/>
                </a:solidFill>
                <a:latin typeface="Calibri"/>
              </a:rPr>
              <a:t>, </a:t>
            </a:r>
            <a:r>
              <a:rPr sz="1700">
                <a:solidFill>
                  <a:srgbClr val="222222"/>
                </a:solidFill>
                <a:latin typeface="Consolas"/>
              </a:rPr>
              <a:t>tran</a:t>
            </a:r>
            <a:r>
              <a:rPr sz="1800">
                <a:solidFill>
                  <a:srgbClr val="222222"/>
                </a:solidFill>
                <a:latin typeface="Calibri"/>
              </a:rPr>
              <a:t>, </a:t>
            </a:r>
            <a:r>
              <a:rPr sz="1700">
                <a:solidFill>
                  <a:srgbClr val="222222"/>
                </a:solidFill>
                <a:latin typeface="Consolas"/>
              </a:rPr>
              <a:t>transfer</a:t>
            </a:r>
            <a:r>
              <a:rPr sz="1800">
                <a:solidFill>
                  <a:srgbClr val="222222"/>
                </a:solidFill>
                <a:latin typeface="Calibri"/>
              </a:rPr>
              <a:t>, </a:t>
            </a:r>
            <a:r>
              <a:rPr sz="1700">
                <a:solidFill>
                  <a:srgbClr val="222222"/>
                </a:solidFill>
                <a:latin typeface="Consolas"/>
              </a:rPr>
              <a:t>send money</a:t>
            </a:r>
            <a:r>
              <a:rPr sz="1800">
                <a:solidFill>
                  <a:srgbClr val="222222"/>
                </a:solidFill>
                <a:latin typeface="Calibri"/>
              </a:rPr>
              <a:t>, </a:t>
            </a:r>
            <a:r>
              <a:rPr sz="1700">
                <a:solidFill>
                  <a:srgbClr val="222222"/>
                </a:solidFill>
                <a:latin typeface="Consolas"/>
              </a:rPr>
              <a:t>i want to send money please</a:t>
            </a:r>
            <a:r>
              <a:rPr sz="1800">
                <a:solidFill>
                  <a:srgbClr val="222222"/>
                </a:solidFill>
                <a:latin typeface="Calibri"/>
              </a:rPr>
              <a:t> → </a:t>
            </a:r>
            <a:r>
              <a:rPr b="1" sz="1800">
                <a:solidFill>
                  <a:srgbClr val="222222"/>
                </a:solidFill>
                <a:latin typeface="Calibri"/>
              </a:rPr>
              <a:t>all score below threshold</a:t>
            </a:r>
            <a:r>
              <a:rPr sz="1800">
                <a:solidFill>
                  <a:srgbClr val="222222"/>
                </a:solidFill>
                <a:latin typeface="Calibri"/>
              </a:rPr>
              <a:t>. Navigation only.</a:t>
            </a:r>
          </a:p>
          <a:p>
            <a:pPr>
              <a:spcAft>
                <a:spcPts val="600"/>
              </a:spcAft>
            </a:pPr>
            <a:r>
              <a:rPr sz="1800">
                <a:solidFill>
                  <a:srgbClr val="222222"/>
                </a:solidFill>
                <a:latin typeface="Calibri"/>
              </a:rPr>
              <a:t>•  </a:t>
            </a:r>
            <a:r>
              <a:rPr sz="1700">
                <a:solidFill>
                  <a:srgbClr val="222222"/>
                </a:solidFill>
                <a:latin typeface="Consolas"/>
              </a:rPr>
              <a:t>transfer to mom's 10000 usd</a:t>
            </a:r>
            <a:r>
              <a:rPr sz="1800">
                <a:solidFill>
                  <a:srgbClr val="222222"/>
                </a:solidFill>
                <a:latin typeface="Calibri"/>
              </a:rPr>
              <a:t> → </a:t>
            </a:r>
            <a:r>
              <a:rPr b="1" sz="1800">
                <a:solidFill>
                  <a:srgbClr val="222222"/>
                </a:solidFill>
                <a:latin typeface="Calibri"/>
              </a:rPr>
              <a:t>scores 4</a:t>
            </a:r>
            <a:r>
              <a:rPr sz="1800">
                <a:solidFill>
                  <a:srgbClr val="222222"/>
                </a:solidFill>
                <a:latin typeface="Calibri"/>
              </a:rPr>
              <a:t>. Extraction runs.</a:t>
            </a:r>
          </a:p>
          <a:p>
            <a:pPr>
              <a:spcAft>
                <a:spcPts val="600"/>
              </a:spcAft>
            </a:pPr>
          </a:p>
          <a:p>
            <a:pPr>
              <a:spcAft>
                <a:spcPts val="600"/>
              </a:spcAft>
            </a:pPr>
            <a:r>
              <a:rPr sz="1800">
                <a:solidFill>
                  <a:srgbClr val="222222"/>
                </a:solidFill>
                <a:latin typeface="Calibri"/>
              </a:rPr>
              <a:t>Signal detection is regex + a token list. It costs microseconds. It is the difference between a search that scales with query volume and one that scales with </a:t>
            </a:r>
            <a:r>
              <a:rPr b="1" sz="1800">
                <a:solidFill>
                  <a:srgbClr val="222222"/>
                </a:solidFill>
                <a:latin typeface="Calibri"/>
              </a:rPr>
              <a:t>LLM spend</a:t>
            </a:r>
            <a:r>
              <a:rPr sz="1800">
                <a:solidFill>
                  <a:srgbClr val="222222"/>
                </a:solidFill>
                <a:latin typeface="Calibri"/>
              </a:rPr>
              <a:t>.</a:t>
            </a:r>
          </a:p>
        </p:txBody>
      </p:sp>
      <p:sp>
        <p:nvSpPr>
          <p:cNvPr id="6" name="Rounded Rectangle 5"/>
          <p:cNvSpPr/>
          <p:nvPr/>
        </p:nvSpPr>
        <p:spPr>
          <a:xfrm>
            <a:off x="548640" y="5349240"/>
            <a:ext cx="11064240" cy="914400"/>
          </a:xfrm>
          <a:prstGeom prst="roundRect">
            <a:avLst>
              <a:gd name="adj" fmla="val 10000"/>
            </a:avLst>
          </a:prstGeom>
          <a:solidFill>
            <a:srgbClr val="EEF3FF"/>
          </a:solidFill>
          <a:ln>
            <a:solidFill>
              <a:srgbClr val="3B5BDB"/>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spcAft>
                <a:spcPts val="600"/>
              </a:spcAft>
            </a:pPr>
            <a:r>
              <a:rPr sz="1700">
                <a:solidFill>
                  <a:srgbClr val="1F2A44"/>
                </a:solidFill>
                <a:latin typeface="Consolas"/>
              </a:rPr>
              <a:t>GET /suggest</a:t>
            </a:r>
            <a:r>
              <a:rPr sz="1800">
                <a:solidFill>
                  <a:srgbClr val="1F2A44"/>
                </a:solidFill>
                <a:latin typeface="Calibri"/>
              </a:rPr>
              <a:t> (typeahead) </a:t>
            </a:r>
            <a:r>
              <a:rPr b="1" sz="1800">
                <a:solidFill>
                  <a:srgbClr val="1F2A44"/>
                </a:solidFill>
                <a:latin typeface="Calibri"/>
              </a:rPr>
              <a:t>hard-codes `allow_extraction=false`</a:t>
            </a:r>
            <a:r>
              <a:rPr sz="1800">
                <a:solidFill>
                  <a:srgbClr val="1F2A44"/>
                </a:solidFill>
                <a:latin typeface="Calibri"/>
              </a:rPr>
              <a:t>. A client-side bug cannot open the LLM gate.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Adding a feature is one INSERT</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325880"/>
            <a:ext cx="11064240" cy="1965960"/>
          </a:xfrm>
          <a:prstGeom prst="roundRect">
            <a:avLst>
              <a:gd name="adj" fmla="val 3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r>
              <a:rPr sz="1300">
                <a:solidFill>
                  <a:srgbClr val="E6E6E6"/>
                </a:solidFill>
                <a:latin typeface="Consolas"/>
              </a:rPr>
              <a:t>INSERT INTO features (feature_id, display_name, description, category, route,</a:t>
            </a:r>
          </a:p>
          <a:p>
            <a:r>
              <a:rPr sz="1300">
                <a:solidFill>
                  <a:srgbClr val="E6E6E6"/>
                </a:solidFill>
                <a:latin typeface="Consolas"/>
              </a:rPr>
              <a:t>                      keywords, aliases, has_params, slots)</a:t>
            </a:r>
          </a:p>
          <a:p>
            <a:r>
              <a:rPr sz="1300">
                <a:solidFill>
                  <a:srgbClr val="E6E6E6"/>
                </a:solidFill>
                <a:latin typeface="Consolas"/>
              </a:rPr>
              <a:t>VALUES ('request_cheque_book', 'Request Cheque Book', ...,</a:t>
            </a:r>
          </a:p>
          <a:p>
            <a:r>
              <a:rPr sz="1300">
                <a:solidFill>
                  <a:srgbClr val="E6E6E6"/>
                </a:solidFill>
                <a:latin typeface="Consolas"/>
              </a:rPr>
              <a:t>        ARRAY['cheque','check book','chequebook'], ARRAY['chq','cheque'],</a:t>
            </a:r>
          </a:p>
          <a:p>
            <a:r>
              <a:rPr sz="1300">
                <a:solidFill>
                  <a:srgbClr val="E6E6E6"/>
                </a:solidFill>
                <a:latin typeface="Consolas"/>
              </a:rPr>
              <a:t>        TRUE,</a:t>
            </a:r>
          </a:p>
          <a:p>
            <a:r>
              <a:rPr sz="1300">
                <a:solidFill>
                  <a:srgbClr val="E6E6E6"/>
                </a:solidFill>
                <a:latin typeface="Consolas"/>
              </a:rPr>
              <a:t>        '[{"name":"account","type":"string","resolver":"account"}, ...]'::jsonb);</a:t>
            </a:r>
          </a:p>
        </p:txBody>
      </p:sp>
      <p:sp>
        <p:nvSpPr>
          <p:cNvPr id="6" name="TextBox 5"/>
          <p:cNvSpPr txBox="1"/>
          <p:nvPr/>
        </p:nvSpPr>
        <p:spPr>
          <a:xfrm>
            <a:off x="548640" y="3520440"/>
            <a:ext cx="11064240" cy="2926080"/>
          </a:xfrm>
          <a:prstGeom prst="rect">
            <a:avLst/>
          </a:prstGeom>
          <a:noFill/>
        </p:spPr>
        <p:txBody>
          <a:bodyPr wrap="square" anchor="t" lIns="45720" rIns="45720">
            <a:spAutoFit/>
          </a:bodyPr>
          <a:lstStyle/>
          <a:p>
            <a:pPr>
              <a:spcAft>
                <a:spcPts val="600"/>
              </a:spcAft>
            </a:pPr>
            <a:r>
              <a:rPr sz="1800">
                <a:solidFill>
                  <a:srgbClr val="222222"/>
                </a:solidFill>
                <a:latin typeface="Calibri"/>
              </a:rPr>
              <a:t>Then embed it. Cache picks it up within 60 seconds. No deploy, no release, no code review of a feature module.</a:t>
            </a:r>
          </a:p>
          <a:p>
            <a:pPr>
              <a:spcAft>
                <a:spcPts val="600"/>
              </a:spcAft>
            </a:pPr>
          </a:p>
          <a:p>
            <a:pPr>
              <a:spcAft>
                <a:spcPts val="600"/>
              </a:spcAft>
            </a:pPr>
            <a:r>
              <a:rPr sz="1800">
                <a:solidFill>
                  <a:srgbClr val="222222"/>
                </a:solidFill>
                <a:latin typeface="Calibri"/>
              </a:rPr>
              <a:t>•  </a:t>
            </a:r>
            <a:r>
              <a:rPr b="1" sz="1800">
                <a:solidFill>
                  <a:srgbClr val="222222"/>
                </a:solidFill>
                <a:latin typeface="Calibri"/>
              </a:rPr>
              <a:t>67 features</a:t>
            </a:r>
            <a:r>
              <a:rPr sz="1800">
                <a:solidFill>
                  <a:srgbClr val="222222"/>
                </a:solidFill>
                <a:latin typeface="Calibri"/>
              </a:rPr>
              <a:t> ship today.</a:t>
            </a:r>
          </a:p>
          <a:p>
            <a:pPr>
              <a:spcAft>
                <a:spcPts val="600"/>
              </a:spcAft>
            </a:pPr>
            <a:r>
              <a:rPr sz="1800">
                <a:solidFill>
                  <a:srgbClr val="222222"/>
                </a:solidFill>
                <a:latin typeface="Calibri"/>
              </a:rPr>
              <a:t>•  The originally-scoped constraint was "feature #51 requires no code changes". We are past that.</a:t>
            </a:r>
          </a:p>
          <a:p>
            <a:pPr>
              <a:spcAft>
                <a:spcPts val="600"/>
              </a:spcAft>
            </a:pPr>
            <a:r>
              <a:rPr sz="1800">
                <a:solidFill>
                  <a:srgbClr val="222222"/>
                </a:solidFill>
                <a:latin typeface="Calibri"/>
              </a:rPr>
              <a:t>•  The </a:t>
            </a:r>
            <a:r>
              <a:rPr b="1" sz="1800">
                <a:solidFill>
                  <a:srgbClr val="222222"/>
                </a:solidFill>
                <a:latin typeface="Calibri"/>
              </a:rPr>
              <a:t>only</a:t>
            </a:r>
            <a:r>
              <a:rPr sz="1800">
                <a:solidFill>
                  <a:srgbClr val="222222"/>
                </a:solidFill>
                <a:latin typeface="Calibri"/>
              </a:rPr>
              <a:t> thing that ever needs new engineering time is a new resolver kind (currently 8 cover the shapes a banking form actually has).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Performance, measured not claimed</a:t>
            </a:r>
          </a:p>
          <a:p>
            <a:pPr>
              <a:spcAft>
                <a:spcPts val="600"/>
              </a:spcAft>
            </a:pPr>
            <a:r>
              <a:rPr sz="1400">
                <a:solidFill>
                  <a:srgbClr val="6B7280"/>
                </a:solidFill>
                <a:latin typeface="Calibri"/>
              </a:rPr>
              <a:t>Budgets: &lt;100 ms navigation · &lt;400 ms command extraction   —   load tested against the running stack, 10,000 requests</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371600"/>
          <a:ext cx="11064240" cy="2194560"/>
        </p:xfrm>
        <a:graphic>
          <a:graphicData uri="http://schemas.openxmlformats.org/drawingml/2006/table">
            <a:tbl>
              <a:tblPr firstRow="1" bandRow="1">
                <a:tableStyleId>{5C22544A-7EE6-4342-B048-85BDC9FD1C3A}</a:tableStyleId>
              </a:tblPr>
              <a:tblGrid>
                <a:gridCol w="3657600"/>
                <a:gridCol w="3291840"/>
                <a:gridCol w="4114800"/>
              </a:tblGrid>
              <a:tr h="438912">
                <a:tc>
                  <a:txBody>
                    <a:bodyPr wrap="square"/>
                    <a:lstStyle/>
                    <a:p>
                      <a:pPr>
                        <a:spcAft>
                          <a:spcPts val="0"/>
                        </a:spcAft>
                      </a:pPr>
                    </a:p>
                  </a:txBody>
                  <a:tcPr marL="73152" marR="73152" marT="36576" marB="36576">
                    <a:solidFill>
                      <a:srgbClr val="1F2A44"/>
                    </a:solidFill>
                  </a:tcPr>
                </a:tc>
                <a:tc>
                  <a:txBody>
                    <a:bodyPr wrap="square"/>
                    <a:lstStyle/>
                    <a:p>
                      <a:pPr>
                        <a:spcAft>
                          <a:spcPts val="0"/>
                        </a:spcAft>
                      </a:pPr>
                      <a:r>
                        <a:rPr sz="1500" b="1">
                          <a:solidFill>
                            <a:srgbClr val="FFFFFF"/>
                          </a:solidFill>
                          <a:latin typeface="Calibri"/>
                        </a:rPr>
                        <a:t>before hardening</a:t>
                      </a:r>
                    </a:p>
                  </a:txBody>
                  <a:tcPr marL="73152" marR="73152" marT="36576" marB="36576">
                    <a:solidFill>
                      <a:srgbClr val="1F2A44"/>
                    </a:solidFill>
                  </a:tcPr>
                </a:tc>
                <a:tc>
                  <a:txBody>
                    <a:bodyPr wrap="square"/>
                    <a:lstStyle/>
                    <a:p>
                      <a:pPr>
                        <a:spcAft>
                          <a:spcPts val="0"/>
                        </a:spcAft>
                      </a:pPr>
                      <a:r>
                        <a:rPr sz="1500" b="1">
                          <a:solidFill>
                            <a:srgbClr val="FFFFFF"/>
                          </a:solidFill>
                          <a:latin typeface="Calibri"/>
                        </a:rPr>
                        <a:t>after</a:t>
                      </a:r>
                    </a:p>
                  </a:txBody>
                  <a:tcPr marL="73152" marR="73152" marT="36576" marB="36576">
                    <a:solidFill>
                      <a:srgbClr val="1F2A44"/>
                    </a:solidFill>
                  </a:tcPr>
                </a:tc>
              </a:tr>
              <a:tr h="438912">
                <a:tc>
                  <a:txBody>
                    <a:bodyPr wrap="square"/>
                    <a:lstStyle/>
                    <a:p>
                      <a:pPr>
                        <a:spcAft>
                          <a:spcPts val="0"/>
                        </a:spcAft>
                      </a:pPr>
                      <a:r>
                        <a:rPr sz="1400">
                          <a:solidFill>
                            <a:srgbClr val="222222"/>
                          </a:solidFill>
                          <a:latin typeface="Consolas"/>
                        </a:rPr>
                        <a:t>/api/search</a:t>
                      </a:r>
                      <a:r>
                        <a:rPr sz="1500">
                          <a:solidFill>
                            <a:srgbClr val="222222"/>
                          </a:solidFill>
                          <a:latin typeface="Calibri"/>
                        </a:rPr>
                        <a:t>, c=32</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56 rps · p50 565 ms</a:t>
                      </a:r>
                    </a:p>
                  </a:txBody>
                  <a:tcPr marL="73152" marR="73152" marT="36576" marB="36576">
                    <a:solidFill>
                      <a:srgbClr val="FFFFFF"/>
                    </a:solidFill>
                  </a:tcPr>
                </a:tc>
                <a:tc>
                  <a:txBody>
                    <a:bodyPr wrap="square"/>
                    <a:lstStyle/>
                    <a:p>
                      <a:pPr>
                        <a:spcAft>
                          <a:spcPts val="0"/>
                        </a:spcAft>
                      </a:pPr>
                      <a:r>
                        <a:rPr b="1" sz="1500">
                          <a:solidFill>
                            <a:srgbClr val="222222"/>
                          </a:solidFill>
                          <a:latin typeface="Calibri"/>
                        </a:rPr>
                        <a:t>637 rps · p50 24 ms</a:t>
                      </a:r>
                    </a:p>
                  </a:txBody>
                  <a:tcPr marL="73152" marR="73152" marT="36576" marB="36576">
                    <a:solidFill>
                      <a:srgbClr val="FFFFFF"/>
                    </a:solidFill>
                  </a:tcPr>
                </a:tc>
              </a:tr>
              <a:tr h="438912">
                <a:tc>
                  <a:txBody>
                    <a:bodyPr wrap="square"/>
                    <a:lstStyle/>
                    <a:p>
                      <a:pPr>
                        <a:spcAft>
                          <a:spcPts val="0"/>
                        </a:spcAft>
                      </a:pPr>
                      <a:r>
                        <a:rPr sz="1400">
                          <a:solidFill>
                            <a:srgbClr val="222222"/>
                          </a:solidFill>
                          <a:latin typeface="Consolas"/>
                        </a:rPr>
                        <a:t>/api/search</a:t>
                      </a:r>
                      <a:r>
                        <a:rPr sz="1500">
                          <a:solidFill>
                            <a:srgbClr val="222222"/>
                          </a:solidFill>
                          <a:latin typeface="Calibri"/>
                        </a:rPr>
                        <a:t>, c=128</a:t>
                      </a:r>
                    </a:p>
                  </a:txBody>
                  <a:tcPr marL="73152" marR="73152" marT="36576" marB="36576">
                    <a:solidFill>
                      <a:srgbClr val="F3F4F6"/>
                    </a:solidFill>
                  </a:tcPr>
                </a:tc>
                <a:tc>
                  <a:txBody>
                    <a:bodyPr wrap="square"/>
                    <a:lstStyle/>
                    <a:p>
                      <a:pPr>
                        <a:spcAft>
                          <a:spcPts val="0"/>
                        </a:spcAft>
                      </a:pPr>
                      <a:r>
                        <a:rPr sz="1500">
                          <a:solidFill>
                            <a:srgbClr val="222222"/>
                          </a:solidFill>
                          <a:latin typeface="Calibri"/>
                        </a:rPr>
                        <a:t>56 rps · p50 2,243 ms</a:t>
                      </a:r>
                    </a:p>
                  </a:txBody>
                  <a:tcPr marL="73152" marR="73152" marT="36576" marB="36576">
                    <a:solidFill>
                      <a:srgbClr val="F3F4F6"/>
                    </a:solidFill>
                  </a:tcPr>
                </a:tc>
                <a:tc>
                  <a:txBody>
                    <a:bodyPr wrap="square"/>
                    <a:lstStyle/>
                    <a:p>
                      <a:pPr>
                        <a:spcAft>
                          <a:spcPts val="0"/>
                        </a:spcAft>
                      </a:pPr>
                      <a:r>
                        <a:rPr b="1" sz="1500">
                          <a:solidFill>
                            <a:srgbClr val="222222"/>
                          </a:solidFill>
                          <a:latin typeface="Calibri"/>
                        </a:rPr>
                        <a:t>798 rps · p50 133 ms</a:t>
                      </a:r>
                    </a:p>
                  </a:txBody>
                  <a:tcPr marL="73152" marR="73152" marT="36576" marB="36576">
                    <a:solidFill>
                      <a:srgbClr val="F3F4F6"/>
                    </a:solidFill>
                  </a:tcPr>
                </a:tc>
              </a:tr>
              <a:tr h="438912">
                <a:tc>
                  <a:txBody>
                    <a:bodyPr wrap="square"/>
                    <a:lstStyle/>
                    <a:p>
                      <a:pPr>
                        <a:spcAft>
                          <a:spcPts val="0"/>
                        </a:spcAft>
                      </a:pPr>
                      <a:r>
                        <a:rPr sz="1400">
                          <a:solidFill>
                            <a:srgbClr val="222222"/>
                          </a:solidFill>
                          <a:latin typeface="Consolas"/>
                        </a:rPr>
                        <a:t>/api/search</a:t>
                      </a:r>
                      <a:r>
                        <a:rPr sz="1500">
                          <a:solidFill>
                            <a:srgbClr val="222222"/>
                          </a:solidFill>
                          <a:latin typeface="Calibri"/>
                        </a:rPr>
                        <a:t>, c=512</a:t>
                      </a:r>
                    </a:p>
                  </a:txBody>
                  <a:tcPr marL="73152" marR="73152" marT="36576" marB="36576">
                    <a:solidFill>
                      <a:srgbClr val="FFFFFF"/>
                    </a:solidFill>
                  </a:tcPr>
                </a:tc>
                <a:tc>
                  <a:txBody>
                    <a:bodyPr wrap="square"/>
                    <a:lstStyle/>
                    <a:p>
                      <a:pPr>
                        <a:spcAft>
                          <a:spcPts val="0"/>
                        </a:spcAft>
                      </a:pPr>
                      <a:r>
                        <a:rPr sz="1500">
                          <a:solidFill>
                            <a:srgbClr val="222222"/>
                          </a:solidFill>
                          <a:latin typeface="Calibri"/>
                        </a:rPr>
                        <a:t>56 rps · p50 9,020 ms</a:t>
                      </a:r>
                    </a:p>
                  </a:txBody>
                  <a:tcPr marL="73152" marR="73152" marT="36576" marB="36576">
                    <a:solidFill>
                      <a:srgbClr val="FFFFFF"/>
                    </a:solidFill>
                  </a:tcPr>
                </a:tc>
                <a:tc>
                  <a:txBody>
                    <a:bodyPr wrap="square"/>
                    <a:lstStyle/>
                    <a:p>
                      <a:pPr>
                        <a:spcAft>
                          <a:spcPts val="0"/>
                        </a:spcAft>
                      </a:pPr>
                      <a:r>
                        <a:rPr b="1" sz="1500">
                          <a:solidFill>
                            <a:srgbClr val="222222"/>
                          </a:solidFill>
                          <a:latin typeface="Calibri"/>
                        </a:rPr>
                        <a:t>851 rps · p50 535 ms</a:t>
                      </a:r>
                    </a:p>
                  </a:txBody>
                  <a:tcPr marL="73152" marR="73152" marT="36576" marB="36576">
                    <a:solidFill>
                      <a:srgbClr val="FFFFFF"/>
                    </a:solidFill>
                  </a:tcPr>
                </a:tc>
              </a:tr>
              <a:tr h="438912">
                <a:tc>
                  <a:txBody>
                    <a:bodyPr wrap="square"/>
                    <a:lstStyle/>
                    <a:p>
                      <a:pPr>
                        <a:spcAft>
                          <a:spcPts val="0"/>
                        </a:spcAft>
                      </a:pPr>
                      <a:r>
                        <a:rPr sz="1500">
                          <a:solidFill>
                            <a:srgbClr val="222222"/>
                          </a:solidFill>
                          <a:latin typeface="Calibri"/>
                        </a:rPr>
                        <a:t>10,000 simultaneous, one each</a:t>
                      </a:r>
                    </a:p>
                  </a:txBody>
                  <a:tcPr marL="73152" marR="73152" marT="36576" marB="36576">
                    <a:solidFill>
                      <a:srgbClr val="F3F4F6"/>
                    </a:solidFill>
                  </a:tcPr>
                </a:tc>
                <a:tc>
                  <a:txBody>
                    <a:bodyPr wrap="square"/>
                    <a:lstStyle/>
                    <a:p>
                      <a:pPr>
                        <a:spcAft>
                          <a:spcPts val="0"/>
                        </a:spcAft>
                      </a:pPr>
                      <a:r>
                        <a:rPr sz="1500">
                          <a:solidFill>
                            <a:srgbClr val="222222"/>
                          </a:solidFill>
                          <a:latin typeface="Calibri"/>
                        </a:rPr>
                        <a:t>—</a:t>
                      </a:r>
                    </a:p>
                  </a:txBody>
                  <a:tcPr marL="73152" marR="73152" marT="36576" marB="36576">
                    <a:solidFill>
                      <a:srgbClr val="F3F4F6"/>
                    </a:solidFill>
                  </a:tcPr>
                </a:tc>
                <a:tc>
                  <a:txBody>
                    <a:bodyPr wrap="square"/>
                    <a:lstStyle/>
                    <a:p>
                      <a:pPr>
                        <a:spcAft>
                          <a:spcPts val="0"/>
                        </a:spcAft>
                      </a:pPr>
                      <a:r>
                        <a:rPr b="1" sz="1500">
                          <a:solidFill>
                            <a:srgbClr val="222222"/>
                          </a:solidFill>
                          <a:latin typeface="Calibri"/>
                        </a:rPr>
                        <a:t>10,000/10,000 OK · 1,001 rps · p50 2.0 s</a:t>
                      </a:r>
                    </a:p>
                  </a:txBody>
                  <a:tcPr marL="73152" marR="73152" marT="36576" marB="36576">
                    <a:solidFill>
                      <a:srgbClr val="F3F4F6"/>
                    </a:solidFill>
                  </a:tcPr>
                </a:tc>
              </a:tr>
            </a:tbl>
          </a:graphicData>
        </a:graphic>
      </p:graphicFrame>
      <p:sp>
        <p:nvSpPr>
          <p:cNvPr id="6" name="TextBox 5"/>
          <p:cNvSpPr txBox="1"/>
          <p:nvPr/>
        </p:nvSpPr>
        <p:spPr>
          <a:xfrm>
            <a:off x="548640" y="3840480"/>
            <a:ext cx="11064240" cy="2743200"/>
          </a:xfrm>
          <a:prstGeom prst="rect">
            <a:avLst/>
          </a:prstGeom>
          <a:noFill/>
        </p:spPr>
        <p:txBody>
          <a:bodyPr wrap="square" anchor="t" lIns="45720" rIns="45720">
            <a:spAutoFit/>
          </a:bodyPr>
          <a:lstStyle/>
          <a:p>
            <a:pPr>
              <a:spcAft>
                <a:spcPts val="600"/>
              </a:spcAft>
            </a:pPr>
            <a:r>
              <a:rPr sz="1700">
                <a:solidFill>
                  <a:srgbClr val="222222"/>
                </a:solidFill>
                <a:latin typeface="Calibri"/>
              </a:rPr>
              <a:t>Two lessons worth naming because they generalise:</a:t>
            </a:r>
          </a:p>
          <a:p>
            <a:pPr>
              <a:spcAft>
                <a:spcPts val="600"/>
              </a:spcAft>
            </a:pPr>
          </a:p>
          <a:p>
            <a:pPr>
              <a:spcAft>
                <a:spcPts val="600"/>
              </a:spcAft>
            </a:pPr>
            <a:r>
              <a:rPr sz="1700">
                <a:solidFill>
                  <a:srgbClr val="222222"/>
                </a:solidFill>
                <a:latin typeface="Calibri"/>
              </a:rPr>
              <a:t>•  </a:t>
            </a:r>
            <a:r>
              <a:rPr b="1" sz="1700">
                <a:solidFill>
                  <a:srgbClr val="222222"/>
                </a:solidFill>
                <a:latin typeface="Calibri"/>
              </a:rPr>
              <a:t>A read timeout does not bound a queue.</a:t>
            </a:r>
            <a:r>
              <a:rPr sz="1700">
                <a:solidFill>
                  <a:srgbClr val="222222"/>
                </a:solidFill>
                <a:latin typeface="Calibri"/>
              </a:rPr>
              <a:t> Our client had a 400 ms read timeout that never fired while p50 sat at 9 seconds. Fixed with a deadline over the whole call, a bulkhead, and a circuit breaker.</a:t>
            </a:r>
          </a:p>
          <a:p>
            <a:pPr>
              <a:spcAft>
                <a:spcPts val="600"/>
              </a:spcAft>
            </a:pPr>
            <a:r>
              <a:rPr sz="1700">
                <a:solidFill>
                  <a:srgbClr val="222222"/>
                </a:solidFill>
                <a:latin typeface="Calibri"/>
              </a:rPr>
              <a:t>•  </a:t>
            </a:r>
            <a:r>
              <a:rPr b="1" sz="1700">
                <a:solidFill>
                  <a:srgbClr val="222222"/>
                </a:solidFill>
                <a:latin typeface="Calibri"/>
              </a:rPr>
              <a:t>One CPU-bound worker gets slower under concurrency.</a:t>
            </a:r>
            <a:r>
              <a:rPr sz="1700">
                <a:solidFill>
                  <a:srgbClr val="222222"/>
                </a:solidFill>
                <a:latin typeface="Calibri"/>
              </a:rPr>
              <a:t> Throughput fell going from 8 to 32 clients — torch intra-op threads contending. Fixed with </a:t>
            </a:r>
            <a:r>
              <a:rPr sz="1600">
                <a:solidFill>
                  <a:srgbClr val="222222"/>
                </a:solidFill>
                <a:latin typeface="Consolas"/>
              </a:rPr>
              <a:t>OMP_NUM_THREADS=1</a:t>
            </a:r>
            <a:r>
              <a:rPr sz="1700">
                <a:solidFill>
                  <a:srgbClr val="222222"/>
                </a:solidFill>
                <a:latin typeface="Calibri"/>
              </a:rPr>
              <a:t> and 4 processes.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Provider flexibility, not vendor lock</a:t>
            </a:r>
          </a:p>
          <a:p>
            <a:pPr>
              <a:spcAft>
                <a:spcPts val="600"/>
              </a:spcAft>
            </a:pPr>
            <a:r>
              <a:rPr sz="1400">
                <a:solidFill>
                  <a:srgbClr val="6B7280"/>
                </a:solidFill>
                <a:latin typeface="Calibri"/>
              </a:rPr>
              <a:t>Stage 2 is one config knob</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548640" y="1371600"/>
          <a:ext cx="11064240" cy="2194560"/>
        </p:xfrm>
        <a:graphic>
          <a:graphicData uri="http://schemas.openxmlformats.org/drawingml/2006/table">
            <a:tbl>
              <a:tblPr firstRow="1" bandRow="1">
                <a:tableStyleId>{5C22544A-7EE6-4342-B048-85BDC9FD1C3A}</a:tableStyleId>
              </a:tblPr>
              <a:tblGrid>
                <a:gridCol w="2377440"/>
                <a:gridCol w="2194560"/>
                <a:gridCol w="6492240"/>
              </a:tblGrid>
              <a:tr h="548640">
                <a:tc>
                  <a:txBody>
                    <a:bodyPr wrap="square"/>
                    <a:lstStyle/>
                    <a:p>
                      <a:pPr>
                        <a:spcAft>
                          <a:spcPts val="0"/>
                        </a:spcAft>
                      </a:pPr>
                      <a:r>
                        <a:rPr sz="1400" b="1">
                          <a:solidFill>
                            <a:srgbClr val="FFFFFF"/>
                          </a:solidFill>
                          <a:latin typeface="Calibri"/>
                        </a:rPr>
                        <a:t>Provider</a:t>
                      </a:r>
                    </a:p>
                  </a:txBody>
                  <a:tcPr marL="73152" marR="73152" marT="36576" marB="36576">
                    <a:solidFill>
                      <a:srgbClr val="1F2A44"/>
                    </a:solidFill>
                  </a:tcPr>
                </a:tc>
                <a:tc>
                  <a:txBody>
                    <a:bodyPr wrap="square"/>
                    <a:lstStyle/>
                    <a:p>
                      <a:pPr>
                        <a:spcAft>
                          <a:spcPts val="0"/>
                        </a:spcAft>
                      </a:pPr>
                      <a:r>
                        <a:rPr sz="1400" b="1">
                          <a:solidFill>
                            <a:srgbClr val="FFFFFF"/>
                          </a:solidFill>
                          <a:latin typeface="Calibri"/>
                        </a:rPr>
                        <a:t>Use for</a:t>
                      </a:r>
                    </a:p>
                  </a:txBody>
                  <a:tcPr marL="73152" marR="73152" marT="36576" marB="36576">
                    <a:solidFill>
                      <a:srgbClr val="1F2A44"/>
                    </a:solidFill>
                  </a:tcPr>
                </a:tc>
                <a:tc>
                  <a:txBody>
                    <a:bodyPr wrap="square"/>
                    <a:lstStyle/>
                    <a:p>
                      <a:pPr>
                        <a:spcAft>
                          <a:spcPts val="0"/>
                        </a:spcAft>
                      </a:pPr>
                      <a:r>
                        <a:rPr sz="1400" b="1">
                          <a:solidFill>
                            <a:srgbClr val="FFFFFF"/>
                          </a:solidFill>
                          <a:latin typeface="Calibri"/>
                        </a:rPr>
                        <a:t>Notes</a:t>
                      </a:r>
                    </a:p>
                  </a:txBody>
                  <a:tcPr marL="73152" marR="73152" marT="36576" marB="36576">
                    <a:solidFill>
                      <a:srgbClr val="1F2A44"/>
                    </a:solidFill>
                  </a:tcPr>
                </a:tc>
              </a:tr>
              <a:tr h="548640">
                <a:tc>
                  <a:txBody>
                    <a:bodyPr wrap="square"/>
                    <a:lstStyle/>
                    <a:p>
                      <a:pPr>
                        <a:spcAft>
                          <a:spcPts val="0"/>
                        </a:spcAft>
                      </a:pPr>
                      <a:r>
                        <a:rPr sz="1300">
                          <a:solidFill>
                            <a:srgbClr val="222222"/>
                          </a:solidFill>
                          <a:latin typeface="Consolas"/>
                        </a:rPr>
                        <a:t>heuristic</a:t>
                      </a:r>
                      <a:r>
                        <a:rPr sz="1400">
                          <a:solidFill>
                            <a:srgbClr val="222222"/>
                          </a:solidFill>
                          <a:latin typeface="Calibri"/>
                        </a:rPr>
                        <a:t> (default)</a:t>
                      </a:r>
                    </a:p>
                  </a:txBody>
                  <a:tcPr marL="73152" marR="73152" marT="36576" marB="36576">
                    <a:solidFill>
                      <a:srgbClr val="FFFFFF"/>
                    </a:solidFill>
                  </a:tcPr>
                </a:tc>
                <a:tc>
                  <a:txBody>
                    <a:bodyPr wrap="square"/>
                    <a:lstStyle/>
                    <a:p>
                      <a:pPr>
                        <a:spcAft>
                          <a:spcPts val="0"/>
                        </a:spcAft>
                      </a:pPr>
                      <a:r>
                        <a:rPr sz="1400">
                          <a:solidFill>
                            <a:srgbClr val="222222"/>
                          </a:solidFill>
                          <a:latin typeface="Calibri"/>
                        </a:rPr>
                        <a:t>dev, CI</a:t>
                      </a:r>
                    </a:p>
                  </a:txBody>
                  <a:tcPr marL="73152" marR="73152" marT="36576" marB="36576">
                    <a:solidFill>
                      <a:srgbClr val="FFFFFF"/>
                    </a:solidFill>
                  </a:tcPr>
                </a:tc>
                <a:tc>
                  <a:txBody>
                    <a:bodyPr wrap="square"/>
                    <a:lstStyle/>
                    <a:p>
                      <a:pPr>
                        <a:spcAft>
                          <a:spcPts val="0"/>
                        </a:spcAft>
                      </a:pPr>
                      <a:r>
                        <a:rPr sz="1400">
                          <a:solidFill>
                            <a:srgbClr val="222222"/>
                          </a:solidFill>
                          <a:latin typeface="Calibri"/>
                        </a:rPr>
                        <a:t>No model, no network. Regex + slot metadata. Everything runs offline.</a:t>
                      </a:r>
                    </a:p>
                  </a:txBody>
                  <a:tcPr marL="73152" marR="73152" marT="36576" marB="36576">
                    <a:solidFill>
                      <a:srgbClr val="FFFFFF"/>
                    </a:solidFill>
                  </a:tcPr>
                </a:tc>
              </a:tr>
              <a:tr h="548640">
                <a:tc>
                  <a:txBody>
                    <a:bodyPr wrap="square"/>
                    <a:lstStyle/>
                    <a:p>
                      <a:pPr>
                        <a:spcAft>
                          <a:spcPts val="0"/>
                        </a:spcAft>
                      </a:pPr>
                      <a:r>
                        <a:rPr sz="1300">
                          <a:solidFill>
                            <a:srgbClr val="222222"/>
                          </a:solidFill>
                          <a:latin typeface="Consolas"/>
                        </a:rPr>
                        <a:t>ollama</a:t>
                      </a:r>
                    </a:p>
                  </a:txBody>
                  <a:tcPr marL="73152" marR="73152" marT="36576" marB="36576">
                    <a:solidFill>
                      <a:srgbClr val="F3F4F6"/>
                    </a:solidFill>
                  </a:tcPr>
                </a:tc>
                <a:tc>
                  <a:txBody>
                    <a:bodyPr wrap="square"/>
                    <a:lstStyle/>
                    <a:p>
                      <a:pPr>
                        <a:spcAft>
                          <a:spcPts val="0"/>
                        </a:spcAft>
                      </a:pPr>
                      <a:r>
                        <a:rPr sz="1400">
                          <a:solidFill>
                            <a:srgbClr val="222222"/>
                          </a:solidFill>
                          <a:latin typeface="Calibri"/>
                        </a:rPr>
                        <a:t>on-prem / air-gapped</a:t>
                      </a:r>
                    </a:p>
                  </a:txBody>
                  <a:tcPr marL="73152" marR="73152" marT="36576" marB="36576">
                    <a:solidFill>
                      <a:srgbClr val="F3F4F6"/>
                    </a:solidFill>
                  </a:tcPr>
                </a:tc>
                <a:tc>
                  <a:txBody>
                    <a:bodyPr wrap="square"/>
                    <a:lstStyle/>
                    <a:p>
                      <a:pPr>
                        <a:spcAft>
                          <a:spcPts val="0"/>
                        </a:spcAft>
                      </a:pPr>
                      <a:r>
                        <a:rPr sz="1300">
                          <a:solidFill>
                            <a:srgbClr val="222222"/>
                          </a:solidFill>
                          <a:latin typeface="Consolas"/>
                        </a:rPr>
                        <a:t>qwen2.5:3b-instruct</a:t>
                      </a:r>
                      <a:r>
                        <a:rPr sz="1400">
                          <a:solidFill>
                            <a:srgbClr val="222222"/>
                          </a:solidFill>
                          <a:latin typeface="Calibri"/>
                        </a:rPr>
                        <a:t> or </a:t>
                      </a:r>
                      <a:r>
                        <a:rPr sz="1300">
                          <a:solidFill>
                            <a:srgbClr val="222222"/>
                          </a:solidFill>
                          <a:latin typeface="Consolas"/>
                        </a:rPr>
                        <a:t>phi-3-mini</a:t>
                      </a:r>
                      <a:r>
                        <a:rPr sz="1400">
                          <a:solidFill>
                            <a:srgbClr val="222222"/>
                          </a:solidFill>
                          <a:latin typeface="Calibri"/>
                        </a:rPr>
                        <a:t>. Slot schema constrains decoding to conforming JSON.</a:t>
                      </a:r>
                    </a:p>
                  </a:txBody>
                  <a:tcPr marL="73152" marR="73152" marT="36576" marB="36576">
                    <a:solidFill>
                      <a:srgbClr val="F3F4F6"/>
                    </a:solidFill>
                  </a:tcPr>
                </a:tc>
              </a:tr>
              <a:tr h="548640">
                <a:tc>
                  <a:txBody>
                    <a:bodyPr wrap="square"/>
                    <a:lstStyle/>
                    <a:p>
                      <a:pPr>
                        <a:spcAft>
                          <a:spcPts val="0"/>
                        </a:spcAft>
                      </a:pPr>
                      <a:r>
                        <a:rPr sz="1300">
                          <a:solidFill>
                            <a:srgbClr val="222222"/>
                          </a:solidFill>
                          <a:latin typeface="Consolas"/>
                        </a:rPr>
                        <a:t>anthropic</a:t>
                      </a:r>
                    </a:p>
                  </a:txBody>
                  <a:tcPr marL="73152" marR="73152" marT="36576" marB="36576">
                    <a:solidFill>
                      <a:srgbClr val="FFFFFF"/>
                    </a:solidFill>
                  </a:tcPr>
                </a:tc>
                <a:tc>
                  <a:txBody>
                    <a:bodyPr wrap="square"/>
                    <a:lstStyle/>
                    <a:p>
                      <a:pPr>
                        <a:spcAft>
                          <a:spcPts val="0"/>
                        </a:spcAft>
                      </a:pPr>
                      <a:r>
                        <a:rPr sz="1400">
                          <a:solidFill>
                            <a:srgbClr val="222222"/>
                          </a:solidFill>
                          <a:latin typeface="Calibri"/>
                        </a:rPr>
                        <a:t>hosted</a:t>
                      </a:r>
                    </a:p>
                  </a:txBody>
                  <a:tcPr marL="73152" marR="73152" marT="36576" marB="36576">
                    <a:solidFill>
                      <a:srgbClr val="FFFFFF"/>
                    </a:solidFill>
                  </a:tcPr>
                </a:tc>
                <a:tc>
                  <a:txBody>
                    <a:bodyPr wrap="square"/>
                    <a:lstStyle/>
                    <a:p>
                      <a:pPr>
                        <a:spcAft>
                          <a:spcPts val="0"/>
                        </a:spcAft>
                      </a:pPr>
                      <a:r>
                        <a:rPr sz="1400">
                          <a:solidFill>
                            <a:srgbClr val="222222"/>
                          </a:solidFill>
                          <a:latin typeface="Calibri"/>
                        </a:rPr>
                        <a:t>Claude Haiku. Extraction as a </a:t>
                      </a:r>
                      <a:r>
                        <a:rPr b="1" sz="1400">
                          <a:solidFill>
                            <a:srgbClr val="222222"/>
                          </a:solidFill>
                          <a:latin typeface="Calibri"/>
                        </a:rPr>
                        <a:t>tool call</a:t>
                      </a:r>
                      <a:r>
                        <a:rPr sz="1400">
                          <a:solidFill>
                            <a:srgbClr val="222222"/>
                          </a:solidFill>
                          <a:latin typeface="Calibri"/>
                        </a:rPr>
                        <a:t> whose schema is the feature's slots — output is structured, not prose.</a:t>
                      </a:r>
                    </a:p>
                  </a:txBody>
                  <a:tcPr marL="73152" marR="73152" marT="36576" marB="36576">
                    <a:solidFill>
                      <a:srgbClr val="FFFFFF"/>
                    </a:solidFill>
                  </a:tcPr>
                </a:tc>
              </a:tr>
            </a:tbl>
          </a:graphicData>
        </a:graphic>
      </p:graphicFrame>
      <p:sp>
        <p:nvSpPr>
          <p:cNvPr id="6" name="TextBox 5"/>
          <p:cNvSpPr txBox="1"/>
          <p:nvPr/>
        </p:nvSpPr>
        <p:spPr>
          <a:xfrm>
            <a:off x="548640" y="4023360"/>
            <a:ext cx="11064240" cy="2560320"/>
          </a:xfrm>
          <a:prstGeom prst="rect">
            <a:avLst/>
          </a:prstGeom>
          <a:noFill/>
        </p:spPr>
        <p:txBody>
          <a:bodyPr wrap="square" anchor="t" lIns="45720" rIns="45720">
            <a:spAutoFit/>
          </a:bodyPr>
          <a:lstStyle/>
          <a:p>
            <a:pPr>
              <a:spcAft>
                <a:spcPts val="600"/>
              </a:spcAft>
            </a:pPr>
            <a:r>
              <a:rPr sz="1700">
                <a:solidFill>
                  <a:srgbClr val="222222"/>
                </a:solidFill>
                <a:latin typeface="Calibri"/>
              </a:rPr>
              <a:t>Same prompt template, same JSON schema, same defensive parser across all three. Swapping providers is not a project.</a:t>
            </a:r>
          </a:p>
          <a:p>
            <a:pPr>
              <a:spcAft>
                <a:spcPts val="600"/>
              </a:spcAft>
            </a:pPr>
          </a:p>
          <a:p>
            <a:pPr>
              <a:spcAft>
                <a:spcPts val="600"/>
              </a:spcAft>
            </a:pPr>
            <a:r>
              <a:rPr sz="1700">
                <a:solidFill>
                  <a:srgbClr val="222222"/>
                </a:solidFill>
                <a:latin typeface="Calibri"/>
              </a:rPr>
              <a:t>Stage 1 query embeddings stay on sentence-transformers regardless of this choice — a different workload with different constraints (Appendix D).</a:t>
            </a:r>
          </a:p>
          <a:p>
            <a:pPr>
              <a:spcAft>
                <a:spcPts val="600"/>
              </a:spcAft>
            </a:pPr>
          </a:p>
          <a:p>
            <a:pPr>
              <a:spcAft>
                <a:spcPts val="600"/>
              </a:spcAft>
            </a:pPr>
            <a:r>
              <a:rPr sz="1700">
                <a:solidFill>
                  <a:srgbClr val="222222"/>
                </a:solidFill>
                <a:latin typeface="Calibri"/>
              </a:rPr>
              <a:t>The compliance implication is deliberate: </a:t>
            </a:r>
            <a:r>
              <a:rPr b="1" sz="1700">
                <a:solidFill>
                  <a:srgbClr val="222222"/>
                </a:solidFill>
                <a:latin typeface="Calibri"/>
              </a:rPr>
              <a:t>`ollama` exists as a first-class option, not an afterthought.</a:t>
            </a:r>
            <a:r>
              <a:rPr sz="1700">
                <a:solidFill>
                  <a:srgbClr val="222222"/>
                </a:solidFill>
                <a:latin typeface="Calibri"/>
              </a:rPr>
              <a:t> If legal asks "does user-typed text leave our network in Stage 2?", the honest answer with </a:t>
            </a:r>
            <a:r>
              <a:rPr sz="1600">
                <a:solidFill>
                  <a:srgbClr val="222222"/>
                </a:solidFill>
                <a:latin typeface="Consolas"/>
              </a:rPr>
              <a:t>anthropic</a:t>
            </a:r>
            <a:r>
              <a:rPr sz="1700">
                <a:solidFill>
                  <a:srgbClr val="222222"/>
                </a:solidFill>
                <a:latin typeface="Calibri"/>
              </a:rPr>
              <a:t> is yes, with </a:t>
            </a:r>
            <a:r>
              <a:rPr sz="1600">
                <a:solidFill>
                  <a:srgbClr val="222222"/>
                </a:solidFill>
                <a:latin typeface="Consolas"/>
              </a:rPr>
              <a:t>ollama</a:t>
            </a:r>
            <a:r>
              <a:rPr sz="1700">
                <a:solidFill>
                  <a:srgbClr val="222222"/>
                </a:solidFill>
                <a:latin typeface="Calibri"/>
              </a:rPr>
              <a:t> is no — and switching is a config change, not a rewrite.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The admin dashboard</a:t>
            </a:r>
          </a:p>
          <a:p>
            <a:pPr>
              <a:spcAft>
                <a:spcPts val="600"/>
              </a:spcAft>
            </a:pPr>
            <a:r>
              <a:rPr sz="1400">
                <a:solidFill>
                  <a:srgbClr val="6B7280"/>
                </a:solidFill>
                <a:latin typeface="Calibri"/>
              </a:rPr>
              <a:t>The registry needs to be edited by humans who are not backend engineers</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64240" cy="5029200"/>
          </a:xfrm>
          <a:prstGeom prst="rect">
            <a:avLst/>
          </a:prstGeom>
          <a:noFill/>
        </p:spPr>
        <p:txBody>
          <a:bodyPr wrap="square" anchor="t" lIns="45720" rIns="45720">
            <a:spAutoFit/>
          </a:bodyPr>
          <a:lstStyle/>
          <a:p>
            <a:pPr>
              <a:spcAft>
                <a:spcPts val="800"/>
              </a:spcAft>
            </a:pPr>
            <a:r>
              <a:rPr sz="1800">
                <a:solidFill>
                  <a:srgbClr val="222222"/>
                </a:solidFill>
                <a:latin typeface="Calibri"/>
              </a:rPr>
              <a:t>•  Full CRUD over the features table, with a structured slot editor</a:t>
            </a:r>
          </a:p>
          <a:p>
            <a:pPr>
              <a:spcAft>
                <a:spcPts val="800"/>
              </a:spcAft>
            </a:pPr>
            <a:r>
              <a:rPr sz="1800">
                <a:solidFill>
                  <a:srgbClr val="222222"/>
                </a:solidFill>
                <a:latin typeface="Calibri"/>
              </a:rPr>
              <a:t>•  </a:t>
            </a:r>
            <a:r>
              <a:rPr b="1" sz="1800">
                <a:solidFill>
                  <a:srgbClr val="222222"/>
                </a:solidFill>
                <a:latin typeface="Calibri"/>
              </a:rPr>
              <a:t>Stale-vector detection.</a:t>
            </a:r>
            <a:r>
              <a:rPr sz="1800">
                <a:solidFill>
                  <a:srgbClr val="222222"/>
                </a:solidFill>
                <a:latin typeface="Calibri"/>
              </a:rPr>
              <a:t> Editing feature text does not silently drop its vector; the row is marked stale via a source-hash column and one button re-embeds it</a:t>
            </a:r>
          </a:p>
          <a:p>
            <a:pPr>
              <a:spcAft>
                <a:spcPts val="800"/>
              </a:spcAft>
            </a:pPr>
            <a:r>
              <a:rPr sz="1800">
                <a:solidFill>
                  <a:srgbClr val="222222"/>
                </a:solidFill>
                <a:latin typeface="Calibri"/>
              </a:rPr>
              <a:t>•  </a:t>
            </a:r>
            <a:r>
              <a:rPr b="1" sz="1800">
                <a:solidFill>
                  <a:srgbClr val="222222"/>
                </a:solidFill>
                <a:latin typeface="Calibri"/>
              </a:rPr>
              <a:t>Search playground.</a:t>
            </a:r>
            <a:r>
              <a:rPr sz="1800">
                <a:solidFill>
                  <a:srgbClr val="222222"/>
                </a:solidFill>
                <a:latin typeface="Calibri"/>
              </a:rPr>
              <a:t> Run a query against the live API, read the whole diagnostics block (per-channel scores, signal score, whether the LLM fired, per-stage timings)</a:t>
            </a:r>
          </a:p>
          <a:p>
            <a:pPr>
              <a:spcAft>
                <a:spcPts val="800"/>
              </a:spcAft>
            </a:pPr>
            <a:r>
              <a:rPr sz="1800">
                <a:solidFill>
                  <a:srgbClr val="222222"/>
                </a:solidFill>
                <a:latin typeface="Calibri"/>
              </a:rPr>
              <a:t>•  </a:t>
            </a:r>
            <a:r>
              <a:rPr b="1" sz="1800">
                <a:solidFill>
                  <a:srgbClr val="222222"/>
                </a:solidFill>
                <a:latin typeface="Calibri"/>
              </a:rPr>
              <a:t>Analytics</a:t>
            </a:r>
            <a:r>
              <a:rPr sz="1800">
                <a:solidFill>
                  <a:srgbClr val="222222"/>
                </a:solidFill>
                <a:latin typeface="Calibri"/>
              </a:rPr>
              <a:t> — LLM invocation rate, latency percentiles by path, top queries, and the unresolved queries (the registry's real to-do list)</a:t>
            </a:r>
          </a:p>
          <a:p>
            <a:pPr>
              <a:spcAft>
                <a:spcPts val="800"/>
              </a:spcAft>
            </a:pPr>
            <a:r>
              <a:rPr sz="1800">
                <a:solidFill>
                  <a:srgbClr val="222222"/>
                </a:solidFill>
                <a:latin typeface="Calibri"/>
              </a:rPr>
              <a:t>•  Change log of every write</a:t>
            </a:r>
          </a:p>
          <a:p>
            <a:pPr>
              <a:spcAft>
                <a:spcPts val="800"/>
              </a:spcAft>
            </a:pPr>
          </a:p>
          <a:p>
            <a:pPr>
              <a:spcAft>
                <a:spcPts val="800"/>
              </a:spcAft>
            </a:pPr>
            <a:r>
              <a:rPr sz="1800">
                <a:solidFill>
                  <a:srgbClr val="222222"/>
                </a:solidFill>
                <a:latin typeface="Calibri"/>
              </a:rPr>
              <a:t>Adding a new managed table is one config object, not a feature branch. That property mirrors the search service itself.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What ships next, and the one decision we need</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25880"/>
            <a:ext cx="5486400" cy="2560320"/>
          </a:xfrm>
          <a:prstGeom prst="rect">
            <a:avLst/>
          </a:prstGeom>
          <a:noFill/>
        </p:spPr>
        <p:txBody>
          <a:bodyPr wrap="square" anchor="t" lIns="45720" rIns="45720">
            <a:spAutoFit/>
          </a:bodyPr>
          <a:lstStyle/>
          <a:p>
            <a:pPr>
              <a:spcAft>
                <a:spcPts val="500"/>
              </a:spcAft>
            </a:pPr>
            <a:r>
              <a:rPr b="1" sz="1500">
                <a:solidFill>
                  <a:srgbClr val="222222"/>
                </a:solidFill>
                <a:latin typeface="Calibri"/>
              </a:rPr>
              <a:t>Pre-launch checklist</a:t>
            </a:r>
          </a:p>
          <a:p>
            <a:pPr>
              <a:spcAft>
                <a:spcPts val="500"/>
              </a:spcAft>
            </a:pPr>
            <a:r>
              <a:rPr sz="1500">
                <a:solidFill>
                  <a:srgbClr val="222222"/>
                </a:solidFill>
                <a:latin typeface="Calibri"/>
              </a:rPr>
              <a:t>•  Principal from JWT, not the request body — Stage 3 queries are user-scoped; hard requirement</a:t>
            </a:r>
          </a:p>
          <a:p>
            <a:pPr>
              <a:spcAft>
                <a:spcPts val="500"/>
              </a:spcAft>
            </a:pPr>
            <a:r>
              <a:rPr sz="1500">
                <a:solidFill>
                  <a:srgbClr val="222222"/>
                </a:solidFill>
                <a:latin typeface="Calibri"/>
              </a:rPr>
              <a:t>•  CORS pinned, endpoints behind the existing gateway</a:t>
            </a:r>
          </a:p>
          <a:p>
            <a:pPr>
              <a:spcAft>
                <a:spcPts val="500"/>
              </a:spcAft>
            </a:pPr>
            <a:r>
              <a:rPr sz="1500">
                <a:solidFill>
                  <a:srgbClr val="222222"/>
                </a:solidFill>
                <a:latin typeface="Calibri"/>
              </a:rPr>
              <a:t>•  </a:t>
            </a:r>
            <a:r>
              <a:rPr sz="1400">
                <a:solidFill>
                  <a:srgbClr val="222222"/>
                </a:solidFill>
                <a:latin typeface="Consolas"/>
              </a:rPr>
              <a:t>search_audit</a:t>
            </a:r>
            <a:r>
              <a:rPr sz="1500">
                <a:solidFill>
                  <a:srgbClr val="222222"/>
                </a:solidFill>
                <a:latin typeface="Calibri"/>
              </a:rPr>
              <a:t> writes wired into the backend (one </a:t>
            </a:r>
            <a:r>
              <a:rPr sz="1400">
                <a:solidFill>
                  <a:srgbClr val="222222"/>
                </a:solidFill>
                <a:latin typeface="Consolas"/>
              </a:rPr>
              <a:t>@Async</a:t>
            </a:r>
            <a:r>
              <a:rPr sz="1500">
                <a:solidFill>
                  <a:srgbClr val="222222"/>
                </a:solidFill>
                <a:latin typeface="Calibri"/>
              </a:rPr>
              <a:t> component; response already carries every field)</a:t>
            </a:r>
          </a:p>
        </p:txBody>
      </p:sp>
      <p:sp>
        <p:nvSpPr>
          <p:cNvPr id="6" name="TextBox 5"/>
          <p:cNvSpPr txBox="1"/>
          <p:nvPr/>
        </p:nvSpPr>
        <p:spPr>
          <a:xfrm>
            <a:off x="6309360" y="1325880"/>
            <a:ext cx="5394960" cy="2560320"/>
          </a:xfrm>
          <a:prstGeom prst="rect">
            <a:avLst/>
          </a:prstGeom>
          <a:noFill/>
        </p:spPr>
        <p:txBody>
          <a:bodyPr wrap="square" anchor="t" lIns="45720" rIns="45720">
            <a:spAutoFit/>
          </a:bodyPr>
          <a:lstStyle/>
          <a:p>
            <a:pPr>
              <a:spcAft>
                <a:spcPts val="500"/>
              </a:spcAft>
            </a:pPr>
            <a:r>
              <a:rPr b="1" sz="1500">
                <a:solidFill>
                  <a:srgbClr val="222222"/>
                </a:solidFill>
                <a:latin typeface="Calibri"/>
              </a:rPr>
              <a:t>Roadmap after pilot</a:t>
            </a:r>
            <a:r>
              <a:rPr sz="1500">
                <a:solidFill>
                  <a:srgbClr val="222222"/>
                </a:solidFill>
                <a:latin typeface="Calibri"/>
              </a:rPr>
              <a:t> (in payback order)</a:t>
            </a:r>
          </a:p>
          <a:p>
            <a:pPr>
              <a:spcAft>
                <a:spcPts val="500"/>
              </a:spcAft>
            </a:pPr>
            <a:r>
              <a:rPr sz="1500">
                <a:solidFill>
                  <a:srgbClr val="222222"/>
                </a:solidFill>
                <a:latin typeface="Calibri"/>
              </a:rPr>
              <a:t>1.  Feed unresolved queries from the dashboard to product weekly as concrete "we should add this" signal</a:t>
            </a:r>
          </a:p>
          <a:p>
            <a:pPr>
              <a:spcAft>
                <a:spcPts val="500"/>
              </a:spcAft>
            </a:pPr>
            <a:r>
              <a:rPr sz="1500">
                <a:solidFill>
                  <a:srgbClr val="222222"/>
                </a:solidFill>
                <a:latin typeface="Calibri"/>
              </a:rPr>
              <a:t>2.  Micro-batching in the embedding service — ~2× throughput per core when scale calls for it</a:t>
            </a:r>
          </a:p>
          <a:p>
            <a:pPr>
              <a:spcAft>
                <a:spcPts val="500"/>
              </a:spcAft>
            </a:pPr>
            <a:r>
              <a:rPr sz="1500">
                <a:solidFill>
                  <a:srgbClr val="222222"/>
                </a:solidFill>
                <a:latin typeface="Calibri"/>
              </a:rPr>
              <a:t>3.  Revisit HNSW sizing only if the registry grows by orders of magnitude</a:t>
            </a:r>
          </a:p>
        </p:txBody>
      </p:sp>
      <p:sp>
        <p:nvSpPr>
          <p:cNvPr id="7" name="Rounded Rectangle 6"/>
          <p:cNvSpPr/>
          <p:nvPr/>
        </p:nvSpPr>
        <p:spPr>
          <a:xfrm>
            <a:off x="548640" y="4114800"/>
            <a:ext cx="11064240" cy="2194560"/>
          </a:xfrm>
          <a:prstGeom prst="roundRect">
            <a:avLst>
              <a:gd name="adj" fmla="val 6000"/>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rIns="365760"/>
          <a:lstStyle/>
          <a:p>
            <a:pPr algn="ctr">
              <a:spcAft>
                <a:spcPts val="600"/>
              </a:spcAft>
            </a:pPr>
            <a:r>
              <a:rPr sz="1400" b="1">
                <a:solidFill>
                  <a:srgbClr val="C7D2FE"/>
                </a:solidFill>
                <a:latin typeface="Calibri"/>
              </a:rPr>
              <a:t>One decision to make in this room</a:t>
            </a:r>
          </a:p>
          <a:p>
            <a:pPr>
              <a:spcAft>
                <a:spcPts val="800"/>
              </a:spcAft>
            </a:pPr>
            <a:r>
              <a:rPr sz="2200" b="1">
                <a:solidFill>
                  <a:srgbClr val="FFFFFF"/>
                </a:solidFill>
                <a:latin typeface="Calibri"/>
              </a:rPr>
              <a:t>Which Stage-2 provider does the pilot ship with — </a:t>
            </a:r>
            <a:r>
              <a:rPr sz="2100" b="1">
                <a:solidFill>
                  <a:srgbClr val="FFFFFF"/>
                </a:solidFill>
                <a:latin typeface="Consolas"/>
              </a:rPr>
              <a:t>ollama</a:t>
            </a:r>
            <a:r>
              <a:rPr sz="2200" b="1">
                <a:solidFill>
                  <a:srgbClr val="FFFFFF"/>
                </a:solidFill>
                <a:latin typeface="Calibri"/>
              </a:rPr>
              <a:t> (on-prem, nothing leaves the network) or </a:t>
            </a:r>
            <a:r>
              <a:rPr sz="2100" b="1">
                <a:solidFill>
                  <a:srgbClr val="FFFFFF"/>
                </a:solidFill>
                <a:latin typeface="Consolas"/>
              </a:rPr>
              <a:t>anthropic</a:t>
            </a:r>
            <a:r>
              <a:rPr sz="2200" b="1">
                <a:solidFill>
                  <a:srgbClr val="FFFFFF"/>
                </a:solidFill>
                <a:latin typeface="Calibri"/>
              </a:rPr>
              <a:t> (hosted, faster iteration)?</a:t>
            </a:r>
          </a:p>
          <a:p>
            <a:pPr>
              <a:spcAft>
                <a:spcPts val="600"/>
              </a:spcAft>
            </a:pPr>
            <a:r>
              <a:rPr sz="1400">
                <a:solidFill>
                  <a:srgbClr val="C7D2FE"/>
                </a:solidFill>
                <a:latin typeface="Calibri"/>
              </a:rPr>
              <a:t>Everything else can proceed on its own schedule. This one gates the pre-launch checklist and has stakeholders across compliance, infra, and cost.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Appendix A — Response shape (for Q&amp;A)</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1325880"/>
            <a:ext cx="11064240" cy="5212080"/>
          </a:xfrm>
          <a:prstGeom prst="roundRect">
            <a:avLst>
              <a:gd name="adj" fmla="val 3000"/>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t" wrap="square" lIns="182880" rIns="182880" tIns="137160"/>
          <a:lstStyle/>
          <a:p>
            <a:pPr algn="ctr"/>
            <a:r>
              <a:rPr sz="1250">
                <a:solidFill>
                  <a:srgbClr val="E6E6E6"/>
                </a:solidFill>
                <a:latin typeface="Consolas"/>
              </a:rPr>
              <a:t>{</a:t>
            </a:r>
          </a:p>
          <a:p>
            <a:r>
              <a:rPr sz="1250">
                <a:solidFill>
                  <a:srgbClr val="E6E6E6"/>
                </a:solidFill>
                <a:latin typeface="Consolas"/>
              </a:rPr>
              <a:t>  "matched_feature": "transfer",  "display_name": "Transfer Money",  "route": "/payments/transfer",</a:t>
            </a:r>
          </a:p>
          <a:p>
            <a:r>
              <a:rPr sz="1250">
                <a:solidFill>
                  <a:srgbClr val="E6E6E6"/>
                </a:solidFill>
                <a:latin typeface="Consolas"/>
              </a:rPr>
              <a:t>  "confidence": 0.529,  "params_extracted": true,</a:t>
            </a:r>
          </a:p>
          <a:p>
            <a:r>
              <a:rPr sz="1250">
                <a:solidFill>
                  <a:srgbClr val="E6E6E6"/>
                </a:solidFill>
                <a:latin typeface="Consolas"/>
              </a:rPr>
              <a:t>  "slots": {</a:t>
            </a:r>
          </a:p>
          <a:p>
            <a:r>
              <a:rPr sz="1250">
                <a:solidFill>
                  <a:srgbClr val="E6E6E6"/>
                </a:solidFill>
                <a:latin typeface="Consolas"/>
              </a:rPr>
              <a:t>    "recipient": { "raw": "mom", "resolved_account_id": "acc_123", "resolved_name": "Mom (Jane Doe)",</a:t>
            </a:r>
          </a:p>
          <a:p>
            <a:r>
              <a:rPr sz="1250">
                <a:solidFill>
                  <a:srgbClr val="E6E6E6"/>
                </a:solidFill>
                <a:latin typeface="Consolas"/>
              </a:rPr>
              <a:t>                   "resolved_detail": "Local Bank ****8899", "match_score": 1.0 },</a:t>
            </a:r>
          </a:p>
          <a:p>
            <a:r>
              <a:rPr sz="1250">
                <a:solidFill>
                  <a:srgbClr val="E6E6E6"/>
                </a:solidFill>
                <a:latin typeface="Consolas"/>
              </a:rPr>
              <a:t>    "amount": 10000, "currency": "USD"</a:t>
            </a:r>
          </a:p>
          <a:p>
            <a:r>
              <a:rPr sz="1250">
                <a:solidFill>
                  <a:srgbClr val="E6E6E6"/>
                </a:solidFill>
                <a:latin typeface="Consolas"/>
              </a:rPr>
              <a:t>  },</a:t>
            </a:r>
          </a:p>
          <a:p>
            <a:r>
              <a:rPr sz="1250">
                <a:solidFill>
                  <a:srgbClr val="E6E6E6"/>
                </a:solidFill>
                <a:latin typeface="Consolas"/>
              </a:rPr>
              <a:t>  "action": "prefill_form",</a:t>
            </a:r>
          </a:p>
          <a:p>
            <a:r>
              <a:rPr sz="1250">
                <a:solidFill>
                  <a:srgbClr val="E6E6E6"/>
                </a:solidFill>
                <a:latin typeface="Consolas"/>
              </a:rPr>
              <a:t>  "diagnostics": {</a:t>
            </a:r>
          </a:p>
          <a:p>
            <a:r>
              <a:rPr sz="1250">
                <a:solidFill>
                  <a:srgbClr val="E6E6E6"/>
                </a:solidFill>
                <a:latin typeface="Consolas"/>
              </a:rPr>
              <a:t>    "timings_ms": { "stage1_hybrid_search": 11, "signal_detection": 0,</a:t>
            </a:r>
          </a:p>
          <a:p>
            <a:r>
              <a:rPr sz="1250">
                <a:solidFill>
                  <a:srgbClr val="E6E6E6"/>
                </a:solidFill>
                <a:latin typeface="Consolas"/>
              </a:rPr>
              <a:t>                    "stage2_llm_extraction": 180, "stage3_entity_resolution": 3 },</a:t>
            </a:r>
          </a:p>
          <a:p>
            <a:r>
              <a:rPr sz="1250">
                <a:solidFill>
                  <a:srgbClr val="E6E6E6"/>
                </a:solidFill>
                <a:latin typeface="Consolas"/>
              </a:rPr>
              <a:t>    "total_ms": 195, "llm_invoked": true, "llm_provider": "anthropic", "signal_score": 4,</a:t>
            </a:r>
          </a:p>
          <a:p>
            <a:r>
              <a:rPr sz="1250">
                <a:solidFill>
                  <a:srgbClr val="E6E6E6"/>
                </a:solidFill>
                <a:latin typeface="Consolas"/>
              </a:rPr>
              <a:t>    "signals": ["number:10000", "currency:usd", "extra_tokens:mom"],</a:t>
            </a:r>
          </a:p>
          <a:p>
            <a:r>
              <a:rPr sz="1250">
                <a:solidFill>
                  <a:srgbClr val="E6E6E6"/>
                </a:solidFill>
                <a:latin typeface="Consolas"/>
              </a:rPr>
              <a:t>    "score_breakdown": { "keyword": 0.17, "trigram": 0.42, "vector": 0.59, "containment": 0.75 }</a:t>
            </a:r>
          </a:p>
          <a:p>
            <a:r>
              <a:rPr sz="1250">
                <a:solidFill>
                  <a:srgbClr val="E6E6E6"/>
                </a:solidFill>
                <a:latin typeface="Consolas"/>
              </a:rPr>
              <a:t>  }</a:t>
            </a:r>
          </a:p>
          <a:p>
            <a:r>
              <a:rPr sz="1250">
                <a:solidFill>
                  <a:srgbClr val="E6E6E6"/>
                </a:solidFill>
                <a:latin typeface="Consolas"/>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Appendix B — Stack</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371600"/>
            <a:ext cx="11064240" cy="5029200"/>
          </a:xfrm>
          <a:prstGeom prst="rect">
            <a:avLst/>
          </a:prstGeom>
          <a:noFill/>
        </p:spPr>
        <p:txBody>
          <a:bodyPr wrap="square" anchor="t" lIns="45720" rIns="45720">
            <a:spAutoFit/>
          </a:bodyPr>
          <a:lstStyle/>
          <a:p>
            <a:pPr>
              <a:spcAft>
                <a:spcPts val="1000"/>
              </a:spcAft>
            </a:pPr>
            <a:r>
              <a:rPr sz="1800">
                <a:solidFill>
                  <a:srgbClr val="222222"/>
                </a:solidFill>
                <a:latin typeface="Calibri"/>
              </a:rPr>
              <a:t>•  Java 21 + Spring Boot 3.2 with virtual threads (chained I/O, blocking style, no reactive plumbing)</a:t>
            </a:r>
          </a:p>
          <a:p>
            <a:pPr>
              <a:spcAft>
                <a:spcPts val="1000"/>
              </a:spcAft>
            </a:pPr>
            <a:r>
              <a:rPr sz="1800">
                <a:solidFill>
                  <a:srgbClr val="222222"/>
                </a:solidFill>
                <a:latin typeface="Calibri"/>
              </a:rPr>
              <a:t>•  PostgreSQL 16 with </a:t>
            </a:r>
            <a:r>
              <a:rPr sz="1700">
                <a:solidFill>
                  <a:srgbClr val="222222"/>
                </a:solidFill>
                <a:latin typeface="Consolas"/>
              </a:rPr>
              <a:t>pgvector</a:t>
            </a:r>
            <a:r>
              <a:rPr sz="1800">
                <a:solidFill>
                  <a:srgbClr val="222222"/>
                </a:solidFill>
                <a:latin typeface="Calibri"/>
              </a:rPr>
              <a:t> and </a:t>
            </a:r>
            <a:r>
              <a:rPr sz="1700">
                <a:solidFill>
                  <a:srgbClr val="222222"/>
                </a:solidFill>
                <a:latin typeface="Consolas"/>
              </a:rPr>
              <a:t>pg_trgm</a:t>
            </a:r>
          </a:p>
          <a:p>
            <a:pPr>
              <a:spcAft>
                <a:spcPts val="1000"/>
              </a:spcAft>
            </a:pPr>
            <a:r>
              <a:rPr sz="1800">
                <a:solidFill>
                  <a:srgbClr val="222222"/>
                </a:solidFill>
                <a:latin typeface="Calibri"/>
              </a:rPr>
              <a:t>•  FastAPI embedding service (</a:t>
            </a:r>
            <a:r>
              <a:rPr sz="1700">
                <a:solidFill>
                  <a:srgbClr val="222222"/>
                </a:solidFill>
                <a:latin typeface="Consolas"/>
              </a:rPr>
              <a:t>bge-small-en-v1.5</a:t>
            </a:r>
            <a:r>
              <a:rPr sz="1800">
                <a:solidFill>
                  <a:srgbClr val="222222"/>
                </a:solidFill>
                <a:latin typeface="Calibri"/>
              </a:rPr>
              <a:t>, 384-dim, CPU)</a:t>
            </a:r>
          </a:p>
          <a:p>
            <a:pPr>
              <a:spcAft>
                <a:spcPts val="1000"/>
              </a:spcAft>
            </a:pPr>
            <a:r>
              <a:rPr sz="1800">
                <a:solidFill>
                  <a:srgbClr val="222222"/>
                </a:solidFill>
                <a:latin typeface="Calibri"/>
              </a:rPr>
              <a:t>•  Kubernetes (local </a:t>
            </a:r>
            <a:r>
              <a:rPr sz="1700">
                <a:solidFill>
                  <a:srgbClr val="222222"/>
                </a:solidFill>
                <a:latin typeface="Consolas"/>
              </a:rPr>
              <a:t>orb.local</a:t>
            </a:r>
            <a:r>
              <a:rPr sz="1800">
                <a:solidFill>
                  <a:srgbClr val="222222"/>
                </a:solidFill>
                <a:latin typeface="Calibri"/>
              </a:rPr>
              <a:t>, production TBD), Istio for mesh + observability</a:t>
            </a:r>
          </a:p>
          <a:p>
            <a:pPr>
              <a:spcAft>
                <a:spcPts val="1000"/>
              </a:spcAft>
            </a:pPr>
            <a:r>
              <a:rPr sz="1800">
                <a:solidFill>
                  <a:srgbClr val="222222"/>
                </a:solidFill>
                <a:latin typeface="Calibri"/>
              </a:rPr>
              <a:t>•  Admin dashboard: Next.js 15 (App Router) + Tailwind, no ORM</a:t>
            </a:r>
          </a:p>
          <a:p>
            <a:pPr>
              <a:spcAft>
                <a:spcPts val="1000"/>
              </a:spcAft>
            </a:pPr>
            <a:r>
              <a:rPr sz="1800">
                <a:solidFill>
                  <a:srgbClr val="222222"/>
                </a:solidFill>
                <a:latin typeface="Calibri"/>
              </a:rPr>
              <a:t>•  38 unit tests covering the signal gate, hostile-JSON parsing, tsquery sanitisation, prompt genericity, Stage-3 normalisation, and containment ranking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Appendix C — Two ranking problems we only found by running it</a:t>
            </a:r>
          </a:p>
          <a:p>
            <a:pPr>
              <a:spcAft>
                <a:spcPts val="600"/>
              </a:spcAft>
            </a:pPr>
            <a:r>
              <a:rPr sz="1400">
                <a:solidFill>
                  <a:srgbClr val="6B7280"/>
                </a:solidFill>
                <a:latin typeface="Calibri"/>
              </a:rPr>
              <a:t>Both would have passed a green unit-test suite. Worth having ready if the Tech Lead asks about verification.</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417320"/>
            <a:ext cx="11064240" cy="5120640"/>
          </a:xfrm>
          <a:prstGeom prst="rect">
            <a:avLst/>
          </a:prstGeom>
          <a:noFill/>
        </p:spPr>
        <p:txBody>
          <a:bodyPr wrap="square" anchor="t" lIns="45720" rIns="45720">
            <a:spAutoFit/>
          </a:bodyPr>
          <a:lstStyle/>
          <a:p>
            <a:pPr>
              <a:spcAft>
                <a:spcPts val="800"/>
              </a:spcAft>
            </a:pPr>
            <a:r>
              <a:rPr b="1" sz="1600">
                <a:solidFill>
                  <a:srgbClr val="222222"/>
                </a:solidFill>
                <a:latin typeface="Calibri"/>
              </a:rPr>
              <a:t>1. Similarity is diluted by the parameter payload.</a:t>
            </a:r>
            <a:r>
              <a:rPr sz="1600">
                <a:solidFill>
                  <a:srgbClr val="222222"/>
                </a:solidFill>
                <a:latin typeface="Calibri"/>
              </a:rPr>
              <a:t> </a:t>
            </a:r>
            <a:r>
              <a:rPr sz="1500">
                <a:solidFill>
                  <a:srgbClr val="222222"/>
                </a:solidFill>
                <a:latin typeface="Consolas"/>
              </a:rPr>
              <a:t>transfer to mom's 10000 usd</a:t>
            </a:r>
            <a:r>
              <a:rPr sz="1600">
                <a:solidFill>
                  <a:srgbClr val="222222"/>
                </a:solidFill>
                <a:latin typeface="Calibri"/>
              </a:rPr>
              <a:t> shares one word with the registry; the rest is payload no feature has ever seen. Every similarity channel drops. The queries that most needed Stage 2 were being gated out of it.</a:t>
            </a:r>
          </a:p>
          <a:p>
            <a:pPr>
              <a:spcAft>
                <a:spcPts val="800"/>
              </a:spcAft>
            </a:pPr>
            <a:r>
              <a:rPr sz="1600">
                <a:solidFill>
                  <a:srgbClr val="222222"/>
                </a:solidFill>
                <a:latin typeface="Calibri"/>
              </a:rPr>
              <a:t>Fix — a </a:t>
            </a:r>
            <a:r>
              <a:rPr b="1" sz="1600">
                <a:solidFill>
                  <a:srgbClr val="222222"/>
                </a:solidFill>
                <a:latin typeface="Calibri"/>
              </a:rPr>
              <a:t>containment channel</a:t>
            </a:r>
            <a:r>
              <a:rPr sz="1600">
                <a:solidFill>
                  <a:srgbClr val="222222"/>
                </a:solidFill>
                <a:latin typeface="Calibri"/>
              </a:rPr>
              <a:t> (does the query literally contain one of the feature's naming terms? payload can dilute similarity, it cannot dilute this) plus a </a:t>
            </a:r>
            <a:r>
              <a:rPr b="1" sz="1600">
                <a:solidFill>
                  <a:srgbClr val="222222"/>
                </a:solidFill>
                <a:latin typeface="Calibri"/>
              </a:rPr>
              <a:t>margin-based gate</a:t>
            </a:r>
            <a:r>
              <a:rPr sz="1600">
                <a:solidFill>
                  <a:srgbClr val="222222"/>
                </a:solidFill>
                <a:latin typeface="Calibri"/>
              </a:rPr>
              <a:t> ("high confidence" means "clear gap to the runner-up", not "raw score above X").</a:t>
            </a:r>
          </a:p>
          <a:p>
            <a:pPr>
              <a:spcAft>
                <a:spcPts val="800"/>
              </a:spcAft>
            </a:pPr>
          </a:p>
          <a:p>
            <a:pPr>
              <a:spcAft>
                <a:spcPts val="800"/>
              </a:spcAft>
            </a:pPr>
            <a:r>
              <a:rPr b="1" sz="1600">
                <a:solidFill>
                  <a:srgbClr val="222222"/>
                </a:solidFill>
                <a:latin typeface="Calibri"/>
              </a:rPr>
              <a:t>2. `ivfflat` silently lost the right answer.</a:t>
            </a:r>
            <a:r>
              <a:rPr sz="1600">
                <a:solidFill>
                  <a:srgbClr val="222222"/>
                </a:solidFill>
                <a:latin typeface="Calibri"/>
              </a:rPr>
              <a:t> At </a:t>
            </a:r>
            <a:r>
              <a:rPr sz="1500">
                <a:solidFill>
                  <a:srgbClr val="222222"/>
                </a:solidFill>
                <a:latin typeface="Consolas"/>
              </a:rPr>
              <a:t>lists=8, probes=1</a:t>
            </a:r>
            <a:r>
              <a:rPr sz="1600">
                <a:solidFill>
                  <a:srgbClr val="222222"/>
                </a:solidFill>
                <a:latin typeface="Calibri"/>
              </a:rPr>
              <a:t>, a query searches one partition. </a:t>
            </a:r>
            <a:r>
              <a:rPr sz="1500">
                <a:solidFill>
                  <a:srgbClr val="222222"/>
                </a:solidFill>
                <a:latin typeface="Consolas"/>
              </a:rPr>
              <a:t>send 250 usd to landlord</a:t>
            </a:r>
            <a:r>
              <a:rPr sz="1600">
                <a:solidFill>
                  <a:srgbClr val="222222"/>
                </a:solidFill>
                <a:latin typeface="Calibri"/>
              </a:rPr>
              <a:t> came back with transfer scoring 0.0 on vector while topping every lexical channel — not an error, just a quietly missing candidate. Now HNSW: no training-data requirement, much better default recall at this size.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3B5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247120" cy="731520"/>
          </a:xfrm>
          <a:prstGeom prst="rect">
            <a:avLst/>
          </a:prstGeom>
          <a:noFill/>
        </p:spPr>
        <p:txBody>
          <a:bodyPr wrap="square">
            <a:spAutoFit/>
          </a:bodyPr>
          <a:lstStyle/>
          <a:p>
            <a:pPr>
              <a:spcAft>
                <a:spcPts val="600"/>
              </a:spcAft>
            </a:pPr>
            <a:r>
              <a:rPr sz="3000" b="1">
                <a:solidFill>
                  <a:srgbClr val="1F2A44"/>
                </a:solidFill>
                <a:latin typeface="Calibri"/>
              </a:rPr>
              <a:t>Appendix D — Why embeddings don't run on Ollama (for Q&amp;A)</a:t>
            </a:r>
          </a:p>
          <a:p>
            <a:pPr>
              <a:spcAft>
                <a:spcPts val="600"/>
              </a:spcAft>
            </a:pPr>
            <a:r>
              <a:rPr sz="1400">
                <a:solidFill>
                  <a:srgbClr val="6B7280"/>
                </a:solidFill>
                <a:latin typeface="Calibri"/>
              </a:rPr>
              <a:t>The obvious question after the provider slide: if ollama is the on-prem answer for Stage 2, why is Stage 1 a separate service running bge-small through sentence-transformers? The workload, not the vendor.</a:t>
            </a:r>
          </a:p>
        </p:txBody>
      </p:sp>
      <p:cxnSp>
        <p:nvCxnSpPr>
          <p:cNvPr id="4" name="Connector 3"/>
          <p:cNvCxnSpPr/>
          <p:nvPr/>
        </p:nvCxnSpPr>
        <p:spPr>
          <a:xfrm>
            <a:off x="548640" y="1051560"/>
            <a:ext cx="11109960" cy="0"/>
          </a:xfrm>
          <a:prstGeom prst="line">
            <a:avLst/>
          </a:prstGeom>
          <a:ln w="9525">
            <a:solidFill>
              <a:srgbClr val="D1D5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417320"/>
            <a:ext cx="11064240" cy="5120640"/>
          </a:xfrm>
          <a:prstGeom prst="rect">
            <a:avLst/>
          </a:prstGeom>
          <a:noFill/>
        </p:spPr>
        <p:txBody>
          <a:bodyPr wrap="square" anchor="t" lIns="45720" rIns="45720">
            <a:spAutoFit/>
          </a:bodyPr>
          <a:lstStyle/>
          <a:p>
            <a:pPr>
              <a:spcAft>
                <a:spcPts val="800"/>
              </a:spcAft>
            </a:pPr>
            <a:r>
              <a:rPr sz="1500" b="1">
                <a:solidFill>
                  <a:srgbClr val="222222"/>
                </a:solidFill>
                <a:latin typeface="Calibri"/>
              </a:rPr>
              <a:t>1. Query and document vectors must come from one runtime.</a:t>
            </a:r>
            <a:r>
              <a:rPr sz="1500">
                <a:solidFill>
                  <a:srgbClr val="222222"/>
                </a:solidFill>
                <a:latin typeface="Calibri"/>
              </a:rPr>
              <a:t> The registry was embedded offline by sentence-transformers. Ollama serves through llama.cpp with a quantised GGUF and its own tokenizer, and emits slightly different vectors for the same text — so a switch means re-embedding the registry first. A migration, not a config change.</a:t>
            </a:r>
          </a:p>
          <a:p>
            <a:pPr>
              <a:spcAft>
                <a:spcPts val="800"/>
              </a:spcAft>
            </a:pPr>
            <a:r>
              <a:rPr sz="1500" b="1">
                <a:solidFill>
                  <a:srgbClr val="222222"/>
                </a:solidFill>
                <a:latin typeface="Calibri"/>
              </a:rPr>
              <a:t>2. The 400 ms deadline vs idle unload.</a:t>
            </a:r>
            <a:r>
              <a:rPr sz="1500">
                <a:solidFill>
                  <a:srgbClr val="222222"/>
                </a:solidFill>
                <a:latin typeface="Calibri"/>
              </a:rPr>
              <a:t> Ollama unloads an idle model after five minutes by default; the first query after a lull pays a multi-second reload, which our whole-call deadline turns into a circuit-breaker trip. Our service loads the model before the port opens. (</a:t>
            </a:r>
            <a:r>
              <a:rPr sz="1400">
                <a:solidFill>
                  <a:srgbClr val="222222"/>
                </a:solidFill>
                <a:latin typeface="Consolas"/>
              </a:rPr>
              <a:t>OLLAMA_KEEP_ALIVE=-1</a:t>
            </a:r>
            <a:r>
              <a:rPr sz="1500">
                <a:solidFill>
                  <a:srgbClr val="222222"/>
                </a:solidFill>
                <a:latin typeface="Calibri"/>
              </a:rPr>
              <a:t> fixes it, but the default works against an always-on stage.)</a:t>
            </a:r>
          </a:p>
          <a:p>
            <a:pPr>
              <a:spcAft>
                <a:spcPts val="800"/>
              </a:spcAft>
            </a:pPr>
            <a:r>
              <a:rPr sz="1500" b="1">
                <a:solidFill>
                  <a:srgbClr val="222222"/>
                </a:solidFill>
                <a:latin typeface="Calibri"/>
              </a:rPr>
              <a:t>3. Scaling shape.</a:t>
            </a:r>
            <a:r>
              <a:rPr sz="1500">
                <a:solidFill>
                  <a:srgbClr val="222222"/>
                </a:solidFill>
                <a:latin typeface="Calibri"/>
              </a:rPr>
              <a:t> The performance slide's four single-threaded processes are the opposite of Ollama's one-process, N-slots model — and sharing one Ollama with Stage 2's 3B model on CPU would queue the always-on stage behind the conditional stage's generation calls.</a:t>
            </a:r>
          </a:p>
          <a:p>
            <a:pPr>
              <a:spcAft>
                <a:spcPts val="800"/>
              </a:spcAft>
            </a:pPr>
            <a:r>
              <a:rPr sz="1500" b="1">
                <a:solidFill>
                  <a:srgbClr val="222222"/>
                </a:solidFill>
                <a:latin typeface="Calibri"/>
              </a:rPr>
              <a:t>4. The knobs we rely on are thirty lines of Python.</a:t>
            </a:r>
            <a:r>
              <a:rPr sz="1500">
                <a:solidFill>
                  <a:srgbClr val="222222"/>
                </a:solidFill>
                <a:latin typeface="Calibri"/>
              </a:rPr>
              <a:t> BGE's query-side prefix, unit-normalised output (pgvector cosine becomes a plain dot product), the 128-token cap, and the typeahead cache all live in </a:t>
            </a:r>
            <a:r>
              <a:rPr sz="1400">
                <a:solidFill>
                  <a:srgbClr val="222222"/>
                </a:solidFill>
                <a:latin typeface="Consolas"/>
              </a:rPr>
              <a:t>app.py</a:t>
            </a:r>
            <a:r>
              <a:rPr sz="1500">
                <a:solidFill>
                  <a:srgbClr val="222222"/>
                </a:solidFill>
                <a:latin typeface="Calibri"/>
              </a:rPr>
              <a:t>. Under Ollama each moves into the Java client.</a:t>
            </a:r>
          </a:p>
          <a:p>
            <a:pPr>
              <a:spcAft>
                <a:spcPts val="800"/>
              </a:spcAft>
            </a:pPr>
            <a:r>
              <a:rPr sz="1500" i="1">
                <a:solidFill>
                  <a:srgbClr val="222222"/>
                </a:solidFill>
                <a:latin typeface="Calibri"/>
              </a:rPr>
              <a:t>When we would switch:</a:t>
            </a:r>
            <a:r>
              <a:rPr sz="1500">
                <a:solidFill>
                  <a:srgbClr val="222222"/>
                </a:solidFill>
                <a:latin typeface="Calibri"/>
              </a:rPr>
              <a:t> a GPU node, or a mandate to consolidate on one serving layer. Then a separate Ollama instance for embeddings, keep-alive pinned, prefix in the Java client, and the registry re-embedded through the same runtime before traffic moves.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